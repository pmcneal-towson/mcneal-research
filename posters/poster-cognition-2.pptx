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43891200" cy="32918400"/>
  <p:notesSz cx="42208450" cy="32099250"/>
  <p:embeddedFontLst>
    <p:embeddedFont>
      <p:font typeface="Arial Black" panose="020B0604020202020204" pitchFamily="34" charset="0"/>
      <p:regular r:id="rId4"/>
      <p:bold r:id="rId5"/>
    </p:embeddedFont>
    <p:embeddedFont>
      <p:font typeface="Arial Narrow" panose="020B0604020202020204" pitchFamily="34" charset="0"/>
      <p:regular r:id="rId6"/>
      <p:bold r:id="rId7"/>
      <p:italic r:id="rId8"/>
      <p:boldItalic r:id="rId9"/>
    </p:embeddedFont>
    <p:embeddedFont>
      <p:font typeface="Tahoma" panose="020B0604030504040204" pitchFamily="34" charset="0"/>
      <p:regular r:id="rId10"/>
      <p:bold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2D200454-40CA-4A62-9FC3-DE9A4176ACB9}">
      <p15:notesGuideLst xmlns:p15="http://schemas.microsoft.com/office/powerpoint/2012/main">
        <p15:guide id="1" orient="horz" pos="10110">
          <p15:clr>
            <a:srgbClr val="A4A3A4"/>
          </p15:clr>
        </p15:guide>
        <p15:guide id="2" pos="13294">
          <p15:clr>
            <a:srgbClr val="A4A3A4"/>
          </p15:clr>
        </p15:guide>
      </p15:notes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4" roundtripDataSignature="AMtx7miDZMI0nfb5IO8Z24uhJipkUavdX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1CB56A-A79A-118B-13F1-7EE1C137B742}" name="Casey, Michelle" initials="CM" userId="S::mcasey@towson.edu::5ec11315-21b5-40e2-95dc-eadcf6c008c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FEA"/>
    <a:srgbClr val="FAFAF6"/>
    <a:srgbClr val="DC0000"/>
    <a:srgbClr val="D20000"/>
    <a:srgbClr val="CC0000"/>
    <a:srgbClr val="E2E3DF"/>
    <a:srgbClr val="FFCC00"/>
    <a:srgbClr val="FF3399"/>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51"/>
    <p:restoredTop sz="94666"/>
  </p:normalViewPr>
  <p:slideViewPr>
    <p:cSldViewPr snapToGrid="0">
      <p:cViewPr>
        <p:scale>
          <a:sx n="30" d="100"/>
          <a:sy n="30" d="100"/>
        </p:scale>
        <p:origin x="928" y="-448"/>
      </p:cViewPr>
      <p:guideLst>
        <p:guide orient="horz" pos="10368"/>
        <p:guide pos="13824"/>
      </p:guideLst>
    </p:cSldViewPr>
  </p:slideViewPr>
  <p:notesTextViewPr>
    <p:cViewPr>
      <p:scale>
        <a:sx n="1" d="1"/>
        <a:sy n="1" d="1"/>
      </p:scale>
      <p:origin x="0" y="0"/>
    </p:cViewPr>
  </p:notesTextViewPr>
  <p:notesViewPr>
    <p:cSldViewPr snapToGrid="0">
      <p:cViewPr>
        <p:scale>
          <a:sx n="1" d="2"/>
          <a:sy n="1" d="2"/>
        </p:scale>
        <p:origin x="0" y="0"/>
      </p:cViewPr>
      <p:guideLst>
        <p:guide orient="horz" pos="10110"/>
        <p:guide pos="1329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presProps" Target="presProps.xml"/><Relationship Id="rId10" Type="http://schemas.openxmlformats.org/officeDocument/2006/relationships/font" Target="fonts/font7.fntdata"/><Relationship Id="rId19" Type="http://schemas.microsoft.com/office/2018/10/relationships/authors" Target="authors.xml"/><Relationship Id="rId4" Type="http://schemas.openxmlformats.org/officeDocument/2006/relationships/font" Target="fonts/font1.fntdata"/><Relationship Id="rId9" Type="http://schemas.openxmlformats.org/officeDocument/2006/relationships/font" Target="fonts/font6.fntdata"/><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18289588" cy="16049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23907750" y="0"/>
            <a:ext cx="18291175" cy="160496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079413" y="2408238"/>
            <a:ext cx="16049625" cy="120364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4221163" y="15247938"/>
            <a:ext cx="33766125" cy="14444662"/>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30487938"/>
            <a:ext cx="18289588" cy="1604962"/>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86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86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86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86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86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86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86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86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23907750" y="30487938"/>
            <a:ext cx="18291175" cy="1604962"/>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a:spLocks noGrp="1" noRot="1" noChangeAspect="1"/>
          </p:cNvSpPr>
          <p:nvPr>
            <p:ph type="sldImg" idx="2"/>
          </p:nvPr>
        </p:nvSpPr>
        <p:spPr>
          <a:xfrm>
            <a:off x="13079413" y="2408238"/>
            <a:ext cx="16049625" cy="12036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 name="Google Shape;18;p1:notes"/>
          <p:cNvSpPr txBox="1">
            <a:spLocks noGrp="1"/>
          </p:cNvSpPr>
          <p:nvPr>
            <p:ph type="body" idx="1"/>
          </p:nvPr>
        </p:nvSpPr>
        <p:spPr>
          <a:xfrm>
            <a:off x="4221163" y="15247938"/>
            <a:ext cx="33766125" cy="144446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19" name="Google Shape;19;p1:notes"/>
          <p:cNvSpPr txBox="1">
            <a:spLocks noGrp="1"/>
          </p:cNvSpPr>
          <p:nvPr>
            <p:ph type="sldNum" idx="12"/>
          </p:nvPr>
        </p:nvSpPr>
        <p:spPr>
          <a:xfrm>
            <a:off x="23907750" y="30487938"/>
            <a:ext cx="18291175" cy="160496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3"/>
          <p:cNvSpPr/>
          <p:nvPr/>
        </p:nvSpPr>
        <p:spPr>
          <a:xfrm>
            <a:off x="533400" y="762000"/>
            <a:ext cx="42672000" cy="31470600"/>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8600" b="0" i="0" u="none" strike="noStrike" cap="none">
              <a:solidFill>
                <a:schemeClr val="lt1"/>
              </a:solidFill>
              <a:latin typeface="Arial"/>
              <a:ea typeface="Arial"/>
              <a:cs typeface="Arial"/>
              <a:sym typeface="Arial"/>
            </a:endParaRPr>
          </a:p>
        </p:txBody>
      </p:sp>
      <p:pic>
        <p:nvPicPr>
          <p:cNvPr id="12" name="Google Shape;12;p3"/>
          <p:cNvPicPr preferRelativeResize="0"/>
          <p:nvPr/>
        </p:nvPicPr>
        <p:blipFill rotWithShape="1">
          <a:blip r:embed="rId2">
            <a:alphaModFix/>
          </a:blip>
          <a:srcRect/>
          <a:stretch/>
        </p:blipFill>
        <p:spPr>
          <a:xfrm>
            <a:off x="9448800" y="33299400"/>
            <a:ext cx="7797800" cy="444500"/>
          </a:xfrm>
          <a:prstGeom prst="rect">
            <a:avLst/>
          </a:prstGeom>
          <a:noFill/>
          <a:ln>
            <a:noFill/>
          </a:ln>
        </p:spPr>
      </p:pic>
      <p:pic>
        <p:nvPicPr>
          <p:cNvPr id="13" name="Google Shape;13;p3"/>
          <p:cNvPicPr preferRelativeResize="0"/>
          <p:nvPr/>
        </p:nvPicPr>
        <p:blipFill rotWithShape="1">
          <a:blip r:embed="rId3">
            <a:alphaModFix/>
          </a:blip>
          <a:srcRect/>
          <a:stretch/>
        </p:blipFill>
        <p:spPr>
          <a:xfrm>
            <a:off x="914400" y="33299400"/>
            <a:ext cx="7772400" cy="444500"/>
          </a:xfrm>
          <a:prstGeom prst="rect">
            <a:avLst/>
          </a:prstGeom>
          <a:noFill/>
          <a:ln>
            <a:noFill/>
          </a:ln>
        </p:spPr>
      </p:pic>
      <p:pic>
        <p:nvPicPr>
          <p:cNvPr id="14" name="Google Shape;14;p3"/>
          <p:cNvPicPr preferRelativeResize="0"/>
          <p:nvPr/>
        </p:nvPicPr>
        <p:blipFill rotWithShape="1">
          <a:blip r:embed="rId4">
            <a:alphaModFix/>
          </a:blip>
          <a:srcRect/>
          <a:stretch/>
        </p:blipFill>
        <p:spPr>
          <a:xfrm>
            <a:off x="914400" y="31699200"/>
            <a:ext cx="7823200" cy="444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jpe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5.jp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50000"/>
            <a:lum/>
          </a:blip>
          <a:srcRect/>
          <a:stretch>
            <a:fillRect/>
          </a:stretch>
        </a:blipFill>
        <a:effectLst/>
      </p:bgPr>
    </p:bg>
    <p:spTree>
      <p:nvGrpSpPr>
        <p:cNvPr id="1" name="Shape 20"/>
        <p:cNvGrpSpPr/>
        <p:nvPr/>
      </p:nvGrpSpPr>
      <p:grpSpPr>
        <a:xfrm>
          <a:off x="0" y="0"/>
          <a:ext cx="0" cy="0"/>
          <a:chOff x="0" y="0"/>
          <a:chExt cx="0" cy="0"/>
        </a:xfrm>
      </p:grpSpPr>
      <p:sp>
        <p:nvSpPr>
          <p:cNvPr id="21" name="Google Shape;21;p1"/>
          <p:cNvSpPr txBox="1"/>
          <p:nvPr/>
        </p:nvSpPr>
        <p:spPr>
          <a:xfrm>
            <a:off x="33695278" y="6972403"/>
            <a:ext cx="10008351" cy="8412378"/>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marL="0" marR="0" lvl="0" indent="0" algn="ctr" rtl="0">
              <a:spcBef>
                <a:spcPts val="0"/>
              </a:spcBef>
              <a:spcAft>
                <a:spcPts val="0"/>
              </a:spcAft>
              <a:buNone/>
            </a:pPr>
            <a:r>
              <a:rPr lang="en-US" sz="3600" dirty="0">
                <a:solidFill>
                  <a:schemeClr val="tx1"/>
                </a:solidFill>
                <a:latin typeface="Arial Black"/>
                <a:sym typeface="Arial Black"/>
              </a:rPr>
              <a:t>Results (</a:t>
            </a:r>
            <a:r>
              <a:rPr lang="en-US" sz="3600" dirty="0" err="1">
                <a:solidFill>
                  <a:schemeClr val="tx1"/>
                </a:solidFill>
                <a:latin typeface="Arial Black"/>
                <a:sym typeface="Arial Black"/>
              </a:rPr>
              <a:t>con’t</a:t>
            </a:r>
            <a:r>
              <a:rPr lang="en-US" sz="3600" dirty="0">
                <a:solidFill>
                  <a:schemeClr val="tx1"/>
                </a:solidFill>
                <a:latin typeface="Arial Black"/>
                <a:sym typeface="Arial Black"/>
              </a:rPr>
              <a:t>)</a:t>
            </a:r>
          </a:p>
          <a:p>
            <a:pPr>
              <a:spcAft>
                <a:spcPts val="800"/>
              </a:spcAft>
            </a:pPr>
            <a:r>
              <a:rPr lang="en-US" sz="2600" b="1" kern="100" dirty="0">
                <a:solidFill>
                  <a:schemeClr val="tx1"/>
                </a:solidFill>
                <a:effectLst/>
                <a:latin typeface="+mn-lt"/>
                <a:ea typeface="Aptos" panose="020B0004020202020204" pitchFamily="34" charset="0"/>
                <a:cs typeface="Times New Roman" panose="02020603050405020304" pitchFamily="18" charset="0"/>
              </a:rPr>
              <a:t>Validation checks:</a:t>
            </a:r>
            <a:r>
              <a:rPr lang="en-US" sz="2600" kern="100" dirty="0">
                <a:solidFill>
                  <a:schemeClr val="tx1"/>
                </a:solidFill>
                <a:effectLst/>
                <a:latin typeface="+mn-lt"/>
                <a:ea typeface="Aptos" panose="020B0004020202020204" pitchFamily="34" charset="0"/>
                <a:cs typeface="Times New Roman" panose="02020603050405020304" pitchFamily="18" charset="0"/>
              </a:rPr>
              <a:t> C</a:t>
            </a:r>
            <a:r>
              <a:rPr lang="en-US" sz="2600" dirty="0">
                <a:latin typeface="+mn-lt"/>
              </a:rPr>
              <a:t>onfidence ratings significantly predicted correct recall of old facts that participants had seen in May, </a:t>
            </a:r>
            <a:r>
              <a:rPr lang="en-US" sz="2600" i="1" dirty="0">
                <a:latin typeface="+mn-lt"/>
              </a:rPr>
              <a:t>z</a:t>
            </a:r>
            <a:r>
              <a:rPr lang="en-US" sz="2600" dirty="0">
                <a:latin typeface="+mn-lt"/>
              </a:rPr>
              <a:t> = 6.11, </a:t>
            </a:r>
            <a:r>
              <a:rPr lang="en-US" sz="2600" i="1" dirty="0">
                <a:latin typeface="+mn-lt"/>
              </a:rPr>
              <a:t>p</a:t>
            </a:r>
            <a:r>
              <a:rPr lang="en-US" sz="2600" dirty="0">
                <a:latin typeface="+mn-lt"/>
              </a:rPr>
              <a:t> &lt; .001. Additionally, prior knowledge of random facts was a significant predictor of correct recall, </a:t>
            </a:r>
            <a:r>
              <a:rPr lang="en-US" sz="2600" i="1" dirty="0">
                <a:latin typeface="+mn-lt"/>
              </a:rPr>
              <a:t>z</a:t>
            </a:r>
            <a:r>
              <a:rPr lang="en-US" sz="2600" dirty="0">
                <a:latin typeface="+mn-lt"/>
              </a:rPr>
              <a:t> = 4.11, </a:t>
            </a:r>
            <a:r>
              <a:rPr lang="en-US" sz="2600" i="1" dirty="0">
                <a:latin typeface="+mn-lt"/>
              </a:rPr>
              <a:t>p</a:t>
            </a:r>
            <a:r>
              <a:rPr lang="en-US" sz="2600" dirty="0">
                <a:latin typeface="+mn-lt"/>
              </a:rPr>
              <a:t> &lt; .001.</a:t>
            </a:r>
          </a:p>
          <a:p>
            <a:pPr>
              <a:spcAft>
                <a:spcPts val="800"/>
              </a:spcAft>
            </a:pPr>
            <a:r>
              <a:rPr lang="en-US" sz="2600" b="1" dirty="0">
                <a:latin typeface="+mn-lt"/>
              </a:rPr>
              <a:t>Effects of Storm Chase Days: </a:t>
            </a:r>
            <a:r>
              <a:rPr lang="en-US" sz="2600" dirty="0">
                <a:latin typeface="+mn-lt"/>
              </a:rPr>
              <a:t>Storm chase days were associated with marginally worse recall of old facts, </a:t>
            </a:r>
            <a:r>
              <a:rPr lang="en-US" sz="2600" i="1" dirty="0">
                <a:latin typeface="+mn-lt"/>
              </a:rPr>
              <a:t>z</a:t>
            </a:r>
            <a:r>
              <a:rPr lang="en-US" sz="2600" dirty="0">
                <a:latin typeface="+mn-lt"/>
              </a:rPr>
              <a:t> = -1.91, </a:t>
            </a:r>
            <a:r>
              <a:rPr lang="en-US" sz="2600" i="1" dirty="0">
                <a:latin typeface="+mn-lt"/>
              </a:rPr>
              <a:t>p</a:t>
            </a:r>
            <a:r>
              <a:rPr lang="en-US" sz="2600" dirty="0">
                <a:latin typeface="+mn-lt"/>
              </a:rPr>
              <a:t> = .057 (Figure 5).</a:t>
            </a:r>
          </a:p>
          <a:p>
            <a:pPr>
              <a:spcAft>
                <a:spcPts val="800"/>
              </a:spcAft>
            </a:pPr>
            <a:r>
              <a:rPr lang="en-US" sz="2600" b="1" dirty="0">
                <a:latin typeface="+mn-lt"/>
              </a:rPr>
              <a:t>Subjective experience: </a:t>
            </a:r>
            <a:r>
              <a:rPr lang="en-US" sz="2600" dirty="0">
                <a:latin typeface="+mn-lt"/>
              </a:rPr>
              <a:t>Participants reported feeling significantly less happy, z = -2.60, p = .010, and more curious, z = 3.96, p &lt; .001, on storm days. Feeling rested did not differ significantly between storm and non-storm days, z = -1.22, p = .225.</a:t>
            </a:r>
          </a:p>
          <a:p>
            <a:pPr>
              <a:spcAft>
                <a:spcPts val="800"/>
              </a:spcAft>
            </a:pPr>
            <a:r>
              <a:rPr lang="en-US" sz="2600" b="1" dirty="0">
                <a:latin typeface="+mn-lt"/>
              </a:rPr>
              <a:t>Subjective experience effects on memory: </a:t>
            </a:r>
            <a:r>
              <a:rPr lang="en-US" sz="2600" dirty="0">
                <a:latin typeface="+mn-lt"/>
              </a:rPr>
              <a:t>None of the subjective variables significantly predicted recall in the full dataset. This null pattern remained when restricting analyses to previously unknown facts and to high-confidence responses, indicating that subjective experience during encoding did not reliably predict subsequent memory performance.</a:t>
            </a:r>
            <a:endParaRPr lang="en-US" sz="2600" b="1" dirty="0">
              <a:latin typeface="+mn-lt"/>
            </a:endParaRPr>
          </a:p>
          <a:p>
            <a:pPr>
              <a:spcAft>
                <a:spcPts val="800"/>
              </a:spcAft>
            </a:pPr>
            <a:endParaRPr lang="en-US" sz="2600" b="1" dirty="0">
              <a:latin typeface="+mn-lt"/>
            </a:endParaRPr>
          </a:p>
          <a:p>
            <a:pPr>
              <a:spcAft>
                <a:spcPts val="800"/>
              </a:spcAft>
            </a:pPr>
            <a:endParaRPr lang="en-US" sz="2600" b="1" kern="100" dirty="0">
              <a:solidFill>
                <a:schemeClr val="tx1"/>
              </a:solidFill>
              <a:effectLst/>
              <a:latin typeface="+mn-lt"/>
              <a:ea typeface="Aptos" panose="020B0004020202020204" pitchFamily="34" charset="0"/>
              <a:cs typeface="Times New Roman" panose="02020603050405020304" pitchFamily="18" charset="0"/>
            </a:endParaRPr>
          </a:p>
        </p:txBody>
      </p:sp>
      <p:pic>
        <p:nvPicPr>
          <p:cNvPr id="22" name="Google Shape;22;p1"/>
          <p:cNvPicPr preferRelativeResize="0"/>
          <p:nvPr/>
        </p:nvPicPr>
        <p:blipFill rotWithShape="1">
          <a:blip r:embed="rId4">
            <a:alphaModFix/>
          </a:blip>
          <a:srcRect/>
          <a:stretch/>
        </p:blipFill>
        <p:spPr>
          <a:xfrm>
            <a:off x="250568" y="631756"/>
            <a:ext cx="7495193" cy="2386129"/>
          </a:xfrm>
          <a:prstGeom prst="rect">
            <a:avLst/>
          </a:prstGeom>
          <a:noFill/>
          <a:ln>
            <a:noFill/>
          </a:ln>
        </p:spPr>
      </p:pic>
      <p:sp>
        <p:nvSpPr>
          <p:cNvPr id="23" name="Google Shape;23;p1"/>
          <p:cNvSpPr txBox="1"/>
          <p:nvPr/>
        </p:nvSpPr>
        <p:spPr>
          <a:xfrm>
            <a:off x="7628526" y="2293144"/>
            <a:ext cx="28634148" cy="4069658"/>
          </a:xfrm>
          <a:prstGeom prst="rect">
            <a:avLst/>
          </a:prstGeom>
          <a:noFill/>
          <a:ln>
            <a:noFill/>
          </a:ln>
        </p:spPr>
        <p:txBody>
          <a:bodyPr spcFirstLastPara="1" wrap="square" lIns="36575" tIns="36575" rIns="36575" bIns="36575" anchor="t" anchorCtr="0">
            <a:noAutofit/>
          </a:bodyPr>
          <a:lstStyle/>
          <a:p>
            <a:pPr algn="ctr"/>
            <a:r>
              <a:rPr lang="en-US" sz="6600" dirty="0">
                <a:effectLst/>
                <a:latin typeface="Arial Black"/>
                <a:ea typeface="Times New Roman" panose="02020603050405020304" pitchFamily="18" charset="0"/>
              </a:rPr>
              <a:t>Authentic Meteorology Learning Experiences: </a:t>
            </a:r>
          </a:p>
          <a:p>
            <a:pPr algn="ctr"/>
            <a:r>
              <a:rPr lang="en-US" sz="6600" dirty="0">
                <a:effectLst/>
                <a:latin typeface="Arial Black"/>
                <a:ea typeface="Times New Roman" panose="02020603050405020304" pitchFamily="18" charset="0"/>
              </a:rPr>
              <a:t>How do Emotions Affect Memory and </a:t>
            </a:r>
          </a:p>
          <a:p>
            <a:pPr algn="ctr"/>
            <a:r>
              <a:rPr lang="en-US" sz="6600" dirty="0">
                <a:effectLst/>
                <a:latin typeface="Arial Black"/>
                <a:ea typeface="Times New Roman" panose="02020603050405020304" pitchFamily="18" charset="0"/>
              </a:rPr>
              <a:t>Learning </a:t>
            </a:r>
            <a:r>
              <a:rPr lang="en-US" sz="6600" dirty="0">
                <a:latin typeface="Arial Black"/>
                <a:ea typeface="Times New Roman" panose="02020603050405020304" pitchFamily="18" charset="0"/>
              </a:rPr>
              <a:t>During a Convective Field Study?</a:t>
            </a:r>
            <a:endParaRPr lang="en-US" sz="6600" b="1" i="0" u="none" strike="noStrike" cap="none" dirty="0">
              <a:solidFill>
                <a:srgbClr val="3B3B39"/>
              </a:solidFill>
              <a:latin typeface="Times New Roman"/>
              <a:ea typeface="Arial Black"/>
              <a:cs typeface="Arial Black"/>
              <a:sym typeface="Arial Black"/>
            </a:endParaRPr>
          </a:p>
          <a:p>
            <a:pPr algn="ctr"/>
            <a:r>
              <a:rPr lang="en-US" sz="3600" b="0" i="0" u="none" strike="noStrike" cap="none" dirty="0">
                <a:solidFill>
                  <a:srgbClr val="3B3B39"/>
                </a:solidFill>
                <a:latin typeface="Arial Narrow"/>
                <a:ea typeface="Arial Narrow"/>
                <a:cs typeface="Arial Narrow"/>
                <a:sym typeface="Arial Narrow"/>
              </a:rPr>
              <a:t>Patrick Schneider</a:t>
            </a:r>
            <a:r>
              <a:rPr lang="en-US" sz="3600" b="0" i="0" u="none" strike="noStrike" cap="none" baseline="30000" dirty="0">
                <a:solidFill>
                  <a:srgbClr val="3B3B39"/>
                </a:solidFill>
                <a:latin typeface="Arial Narrow"/>
                <a:ea typeface="Arial Narrow"/>
                <a:cs typeface="Arial Narrow"/>
                <a:sym typeface="Arial Narrow"/>
              </a:rPr>
              <a:t>1</a:t>
            </a:r>
            <a:r>
              <a:rPr lang="en-US" sz="3600" b="0" i="0" u="none" strike="noStrike" cap="none" dirty="0">
                <a:solidFill>
                  <a:srgbClr val="3B3B39"/>
                </a:solidFill>
                <a:latin typeface="Arial Narrow"/>
                <a:ea typeface="Arial Narrow"/>
                <a:cs typeface="Arial Narrow"/>
                <a:sym typeface="Arial Narrow"/>
              </a:rPr>
              <a:t>, </a:t>
            </a:r>
            <a:r>
              <a:rPr lang="en-US" sz="3600" kern="100" dirty="0">
                <a:solidFill>
                  <a:schemeClr val="tx1">
                    <a:lumMod val="75000"/>
                    <a:lumOff val="25000"/>
                  </a:schemeClr>
                </a:solidFill>
                <a:effectLst/>
                <a:latin typeface="Arial Narrow"/>
                <a:ea typeface="Aptos" panose="020B0004020202020204" pitchFamily="34" charset="0"/>
              </a:rPr>
              <a:t>Peggy McNeal</a:t>
            </a:r>
            <a:r>
              <a:rPr lang="en-US" sz="3600" kern="100" baseline="30000" dirty="0">
                <a:solidFill>
                  <a:schemeClr val="tx1">
                    <a:lumMod val="75000"/>
                    <a:lumOff val="25000"/>
                  </a:schemeClr>
                </a:solidFill>
                <a:effectLst/>
                <a:latin typeface="Arial Narrow"/>
                <a:ea typeface="Aptos" panose="020B0004020202020204" pitchFamily="34" charset="0"/>
              </a:rPr>
              <a:t>1</a:t>
            </a:r>
            <a:r>
              <a:rPr lang="en-US" sz="3600" kern="100" dirty="0">
                <a:solidFill>
                  <a:schemeClr val="tx1">
                    <a:lumMod val="75000"/>
                    <a:lumOff val="25000"/>
                  </a:schemeClr>
                </a:solidFill>
                <a:effectLst/>
                <a:latin typeface="Arial Narrow"/>
                <a:ea typeface="Aptos" panose="020B0004020202020204" pitchFamily="34" charset="0"/>
              </a:rPr>
              <a:t>, Courtney Sheckler</a:t>
            </a:r>
            <a:r>
              <a:rPr lang="en-US" sz="3600" kern="100" baseline="30000" dirty="0">
                <a:solidFill>
                  <a:schemeClr val="tx1">
                    <a:lumMod val="75000"/>
                    <a:lumOff val="25000"/>
                  </a:schemeClr>
                </a:solidFill>
                <a:latin typeface="Arial Narrow"/>
                <a:ea typeface="Aptos" panose="020B0004020202020204" pitchFamily="34" charset="0"/>
              </a:rPr>
              <a:t>2</a:t>
            </a:r>
            <a:r>
              <a:rPr lang="en-US" sz="3600" kern="100" dirty="0">
                <a:solidFill>
                  <a:schemeClr val="tx1">
                    <a:lumMod val="75000"/>
                    <a:lumOff val="25000"/>
                  </a:schemeClr>
                </a:solidFill>
                <a:effectLst/>
                <a:latin typeface="Arial Narrow"/>
                <a:ea typeface="Aptos" panose="020B0004020202020204" pitchFamily="34" charset="0"/>
              </a:rPr>
              <a:t>, Tim Shipley</a:t>
            </a:r>
            <a:r>
              <a:rPr lang="en-US" sz="3600" kern="100" baseline="30000" dirty="0">
                <a:solidFill>
                  <a:schemeClr val="tx1">
                    <a:lumMod val="75000"/>
                    <a:lumOff val="25000"/>
                  </a:schemeClr>
                </a:solidFill>
                <a:effectLst/>
                <a:latin typeface="Arial Narrow"/>
                <a:ea typeface="Aptos" panose="020B0004020202020204" pitchFamily="34" charset="0"/>
              </a:rPr>
              <a:t>2</a:t>
            </a:r>
            <a:r>
              <a:rPr lang="en-US" sz="3600" kern="100" dirty="0">
                <a:solidFill>
                  <a:schemeClr val="tx1">
                    <a:lumMod val="75000"/>
                    <a:lumOff val="25000"/>
                  </a:schemeClr>
                </a:solidFill>
                <a:effectLst/>
                <a:latin typeface="Arial Narrow"/>
                <a:ea typeface="Aptos" panose="020B0004020202020204" pitchFamily="34" charset="0"/>
              </a:rPr>
              <a:t>, Teresa Bals-Elsholz</a:t>
            </a:r>
            <a:r>
              <a:rPr lang="en-US" sz="3600" kern="100" baseline="30000" dirty="0">
                <a:solidFill>
                  <a:schemeClr val="tx1">
                    <a:lumMod val="75000"/>
                    <a:lumOff val="25000"/>
                  </a:schemeClr>
                </a:solidFill>
                <a:effectLst/>
                <a:latin typeface="Arial Narrow"/>
                <a:ea typeface="Aptos" panose="020B0004020202020204" pitchFamily="34" charset="0"/>
              </a:rPr>
              <a:t>3</a:t>
            </a:r>
            <a:r>
              <a:rPr lang="en-US" sz="3600" kern="100" dirty="0">
                <a:solidFill>
                  <a:schemeClr val="tx1">
                    <a:lumMod val="75000"/>
                    <a:lumOff val="25000"/>
                  </a:schemeClr>
                </a:solidFill>
                <a:effectLst/>
                <a:latin typeface="Arial Narrow"/>
                <a:ea typeface="Aptos" panose="020B0004020202020204" pitchFamily="34" charset="0"/>
              </a:rPr>
              <a:t>, Kevin Goebbert</a:t>
            </a:r>
            <a:r>
              <a:rPr lang="en-US" sz="3600" kern="100" baseline="30000" dirty="0">
                <a:solidFill>
                  <a:schemeClr val="tx1">
                    <a:lumMod val="75000"/>
                    <a:lumOff val="25000"/>
                  </a:schemeClr>
                </a:solidFill>
                <a:effectLst/>
                <a:latin typeface="Arial Narrow"/>
                <a:ea typeface="Aptos" panose="020B0004020202020204" pitchFamily="34" charset="0"/>
              </a:rPr>
              <a:t>3</a:t>
            </a:r>
            <a:endParaRPr lang="en-US" sz="3600" kern="100" dirty="0">
              <a:solidFill>
                <a:schemeClr val="tx1">
                  <a:lumMod val="75000"/>
                  <a:lumOff val="25000"/>
                </a:schemeClr>
              </a:solidFill>
              <a:effectLst/>
              <a:latin typeface="Arial Narrow"/>
              <a:ea typeface="Aptos" panose="020B0004020202020204" pitchFamily="34" charset="0"/>
            </a:endParaRPr>
          </a:p>
          <a:p>
            <a:pPr algn="ctr"/>
            <a:r>
              <a:rPr lang="en-US" sz="2800" baseline="30000" dirty="0">
                <a:solidFill>
                  <a:srgbClr val="3B3B39"/>
                </a:solidFill>
                <a:latin typeface="Arial Narrow"/>
                <a:ea typeface="Arial Narrow"/>
                <a:cs typeface="Arial Narrow"/>
                <a:sym typeface="Arial Narrow"/>
              </a:rPr>
              <a:t>1</a:t>
            </a:r>
            <a:r>
              <a:rPr lang="en-US" sz="2800" dirty="0">
                <a:solidFill>
                  <a:srgbClr val="3B3B39"/>
                </a:solidFill>
                <a:latin typeface="Arial Narrow"/>
                <a:ea typeface="Arial Narrow"/>
                <a:cs typeface="Arial Narrow"/>
                <a:sym typeface="Arial Narrow"/>
              </a:rPr>
              <a:t>Towson University, </a:t>
            </a:r>
            <a:r>
              <a:rPr lang="en-US" sz="2800" baseline="30000" dirty="0">
                <a:solidFill>
                  <a:schemeClr val="tx1">
                    <a:lumMod val="75000"/>
                    <a:lumOff val="25000"/>
                  </a:schemeClr>
                </a:solidFill>
                <a:latin typeface="Arial Narrow"/>
                <a:ea typeface="Arial Narrow"/>
                <a:cs typeface="Arial Narrow"/>
                <a:sym typeface="Arial Narrow"/>
              </a:rPr>
              <a:t>2</a:t>
            </a:r>
            <a:r>
              <a:rPr lang="en-US" sz="2800" dirty="0">
                <a:solidFill>
                  <a:srgbClr val="3B3B39"/>
                </a:solidFill>
                <a:latin typeface="Arial Narrow"/>
                <a:ea typeface="Arial Narrow"/>
                <a:cs typeface="Arial Narrow"/>
                <a:sym typeface="Arial Narrow"/>
              </a:rPr>
              <a:t>Temple University, </a:t>
            </a:r>
            <a:r>
              <a:rPr lang="en-US" sz="2800" baseline="30000" dirty="0">
                <a:solidFill>
                  <a:schemeClr val="tx1">
                    <a:lumMod val="75000"/>
                    <a:lumOff val="25000"/>
                  </a:schemeClr>
                </a:solidFill>
                <a:latin typeface="Arial Narrow"/>
                <a:ea typeface="Arial Narrow"/>
                <a:cs typeface="Arial Narrow"/>
                <a:sym typeface="Arial Narrow"/>
              </a:rPr>
              <a:t>3</a:t>
            </a:r>
            <a:r>
              <a:rPr lang="en-US" sz="2800" dirty="0">
                <a:solidFill>
                  <a:srgbClr val="3B3B39"/>
                </a:solidFill>
                <a:latin typeface="Arial Narrow"/>
                <a:ea typeface="Arial Narrow"/>
                <a:cs typeface="Arial Narrow"/>
                <a:sym typeface="Arial Narrow"/>
              </a:rPr>
              <a:t>Valparaiso University </a:t>
            </a:r>
            <a:endParaRPr lang="en-US" sz="2800" b="0" i="0" u="none" strike="noStrike" cap="none" dirty="0">
              <a:solidFill>
                <a:srgbClr val="3B3B39"/>
              </a:solidFill>
              <a:latin typeface="Arial Narrow"/>
              <a:ea typeface="Arial Narrow"/>
              <a:cs typeface="Arial Narrow"/>
            </a:endParaRPr>
          </a:p>
          <a:p>
            <a:pPr marL="514350" marR="0" lvl="0" indent="-514350" algn="ctr" rtl="0">
              <a:spcBef>
                <a:spcPts val="0"/>
              </a:spcBef>
              <a:spcAft>
                <a:spcPts val="0"/>
              </a:spcAft>
              <a:buAutoNum type="arabicParenBoth"/>
            </a:pPr>
            <a:endParaRPr lang="en-US" sz="2800" b="0" i="0" u="none" strike="noStrike" cap="none" dirty="0">
              <a:solidFill>
                <a:srgbClr val="3B3B39"/>
              </a:solidFill>
              <a:latin typeface="Arial Narrow"/>
              <a:ea typeface="Arial Narrow"/>
              <a:cs typeface="Arial Narrow"/>
              <a:sym typeface="Arial Narrow"/>
            </a:endParaRPr>
          </a:p>
        </p:txBody>
      </p:sp>
      <p:sp>
        <p:nvSpPr>
          <p:cNvPr id="25" name="Google Shape;25;p1"/>
          <p:cNvSpPr txBox="1"/>
          <p:nvPr/>
        </p:nvSpPr>
        <p:spPr>
          <a:xfrm>
            <a:off x="33695277" y="15491903"/>
            <a:ext cx="10008351" cy="8740319"/>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marL="0" marR="0" lvl="0" indent="0" algn="ctr" rtl="0">
              <a:spcBef>
                <a:spcPts val="0"/>
              </a:spcBef>
              <a:spcAft>
                <a:spcPts val="0"/>
              </a:spcAft>
              <a:buNone/>
            </a:pPr>
            <a:r>
              <a:rPr lang="en-US" sz="3600" b="0" i="0" u="none" strike="noStrike" cap="none" dirty="0">
                <a:solidFill>
                  <a:schemeClr val="tx1"/>
                </a:solidFill>
                <a:latin typeface="Arial Black"/>
                <a:ea typeface="Arial Black"/>
                <a:cs typeface="Arial Black"/>
                <a:sym typeface="Arial Black"/>
              </a:rPr>
              <a:t>Discussion</a:t>
            </a:r>
            <a:endParaRPr sz="3600" dirty="0">
              <a:solidFill>
                <a:schemeClr val="tx1"/>
              </a:solidFill>
            </a:endParaRPr>
          </a:p>
          <a:p>
            <a:r>
              <a:rPr lang="en-US" sz="2600" kern="100" dirty="0">
                <a:effectLst/>
                <a:latin typeface="+mn-lt"/>
                <a:ea typeface="Aptos" panose="020B0004020202020204" pitchFamily="34" charset="0"/>
              </a:rPr>
              <a:t>This study examined how emotions experienced during an 11-day convective field course influenced students’ long-term recall. </a:t>
            </a:r>
            <a:r>
              <a:rPr lang="en-US" sz="2600" b="1" kern="100" dirty="0">
                <a:effectLst/>
                <a:latin typeface="+mn-lt"/>
                <a:ea typeface="Aptos" panose="020B0004020202020204" pitchFamily="34" charset="0"/>
              </a:rPr>
              <a:t>Research question #1: </a:t>
            </a:r>
            <a:r>
              <a:rPr lang="en-US" sz="2600" b="1" dirty="0"/>
              <a:t>How does recall of random facts presented on chase days compare with those presented on non-chase days? </a:t>
            </a:r>
            <a:r>
              <a:rPr lang="en-US" sz="2600" kern="100" dirty="0">
                <a:effectLst/>
                <a:latin typeface="+mn-lt"/>
                <a:ea typeface="Aptos" panose="020B0004020202020204" pitchFamily="34" charset="0"/>
              </a:rPr>
              <a:t>Recall of random facts encountered on storm days was lower than recall of facts encountered on non-storm days, which supports the idea that emotionally intense storm-chases focus attention on the storms themselves at the expense of peripheral </a:t>
            </a:r>
            <a:r>
              <a:rPr lang="en-US" sz="2600" kern="100" dirty="0">
                <a:latin typeface="+mn-lt"/>
                <a:ea typeface="Aptos" panose="020B0004020202020204" pitchFamily="34" charset="0"/>
              </a:rPr>
              <a:t>details </a:t>
            </a:r>
            <a:r>
              <a:rPr lang="en-US" sz="2600" dirty="0"/>
              <a:t>event (Mather &amp; Sutherland, 2011</a:t>
            </a:r>
            <a:r>
              <a:rPr lang="en-US" sz="2600" kern="100" dirty="0">
                <a:latin typeface="+mn-lt"/>
                <a:ea typeface="Aptos" panose="020B0004020202020204" pitchFamily="34" charset="0"/>
              </a:rPr>
              <a:t>. </a:t>
            </a:r>
          </a:p>
          <a:p>
            <a:r>
              <a:rPr lang="en-US" sz="2600" b="1" kern="100" dirty="0">
                <a:latin typeface="+mn-lt"/>
                <a:ea typeface="Aptos" panose="020B0004020202020204" pitchFamily="34" charset="0"/>
              </a:rPr>
              <a:t>Research question #2: </a:t>
            </a:r>
            <a:r>
              <a:rPr lang="en-US" sz="2600" b="1" dirty="0"/>
              <a:t>How does emotion regulate recall of random facts six months later? </a:t>
            </a:r>
            <a:r>
              <a:rPr lang="en-US" sz="2600" kern="100" dirty="0">
                <a:latin typeface="+mn-lt"/>
                <a:ea typeface="Aptos" panose="020B0004020202020204" pitchFamily="34" charset="0"/>
              </a:rPr>
              <a:t>Although participants reported higher curiosity and lower happiness on storm days, none of the measured emotional states predicted recall six months later, suggesting that being emotionally engaged by curiosity did not automatically lead to better memory. The combination of lower happiness but higher curiosity may be a unique emotional experience during storm chasing that could be explored with future research.</a:t>
            </a:r>
          </a:p>
          <a:p>
            <a:r>
              <a:rPr lang="en-US" sz="2600" b="1" kern="100" dirty="0">
                <a:latin typeface="+mn-lt"/>
                <a:ea typeface="Aptos" panose="020B0004020202020204" pitchFamily="34" charset="0"/>
              </a:rPr>
              <a:t>Future work: </a:t>
            </a:r>
            <a:r>
              <a:rPr lang="en-US" sz="2600" kern="100" dirty="0">
                <a:latin typeface="+mn-lt"/>
                <a:ea typeface="Aptos" panose="020B0004020202020204" pitchFamily="34" charset="0"/>
              </a:rPr>
              <a:t>Statistical analysis of of data related to RQ #3 and qualitative analysis </a:t>
            </a:r>
            <a:r>
              <a:rPr lang="en-US" sz="2600" kern="100">
                <a:latin typeface="+mn-lt"/>
                <a:ea typeface="Aptos" panose="020B0004020202020204" pitchFamily="34" charset="0"/>
              </a:rPr>
              <a:t>of interview data. </a:t>
            </a:r>
            <a:endParaRPr lang="en-US" sz="2600" kern="100" dirty="0">
              <a:effectLst/>
              <a:latin typeface="+mn-lt"/>
              <a:ea typeface="Aptos" panose="020B0004020202020204" pitchFamily="34" charset="0"/>
            </a:endParaRPr>
          </a:p>
        </p:txBody>
      </p:sp>
      <p:sp>
        <p:nvSpPr>
          <p:cNvPr id="27" name="Google Shape;27;p1"/>
          <p:cNvSpPr txBox="1"/>
          <p:nvPr/>
        </p:nvSpPr>
        <p:spPr>
          <a:xfrm>
            <a:off x="33695276" y="24371427"/>
            <a:ext cx="10008351" cy="5156058"/>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marL="0" marR="0" lvl="0" indent="0" algn="ctr" rtl="0">
              <a:spcBef>
                <a:spcPts val="0"/>
              </a:spcBef>
              <a:spcAft>
                <a:spcPts val="0"/>
              </a:spcAft>
              <a:buNone/>
            </a:pPr>
            <a:r>
              <a:rPr lang="en-US" sz="3600" dirty="0">
                <a:solidFill>
                  <a:schemeClr val="tx1"/>
                </a:solidFill>
                <a:latin typeface="Arial Black"/>
                <a:ea typeface="Arial Black"/>
                <a:cs typeface="Arial Black"/>
                <a:sym typeface="Arial Black"/>
              </a:rPr>
              <a:t>Acknowledgments</a:t>
            </a:r>
            <a:endParaRPr sz="3600" dirty="0">
              <a:solidFill>
                <a:schemeClr val="tx1"/>
              </a:solidFill>
            </a:endParaRPr>
          </a:p>
          <a:p>
            <a:pPr>
              <a:spcBef>
                <a:spcPts val="800"/>
              </a:spcBef>
            </a:pPr>
            <a:r>
              <a:rPr lang="en-US" sz="2400" dirty="0">
                <a:solidFill>
                  <a:schemeClr val="tx1"/>
                </a:solidFill>
              </a:rPr>
              <a:t>	</a:t>
            </a:r>
            <a:r>
              <a:rPr lang="en-US" sz="2600" dirty="0">
                <a:solidFill>
                  <a:schemeClr val="tx1"/>
                </a:solidFill>
              </a:rPr>
              <a:t>We are deeply grateful to the Valparaiso University instructors and students who participated in this study. We would like to thank Deepu Murty at the University of Oregon for assistance in the statistical analysis of our data.</a:t>
            </a:r>
          </a:p>
          <a:p>
            <a:pPr>
              <a:spcBef>
                <a:spcPts val="800"/>
              </a:spcBef>
            </a:pPr>
            <a:r>
              <a:rPr lang="en-US" sz="2600" dirty="0">
                <a:solidFill>
                  <a:schemeClr val="tx1"/>
                </a:solidFill>
              </a:rPr>
              <a:t>	This material is based upon work supported by the National Science Foundation under Grant Numbers AGS-2413370 and </a:t>
            </a:r>
            <a:r>
              <a:rPr lang="en-US" sz="2600" dirty="0">
                <a:solidFill>
                  <a:schemeClr val="tx1"/>
                </a:solidFill>
                <a:ea typeface="Tahoma"/>
              </a:rPr>
              <a:t>AGS-2413371.</a:t>
            </a:r>
            <a:r>
              <a:rPr lang="en-US" sz="2600" dirty="0">
                <a:solidFill>
                  <a:schemeClr val="tx1"/>
                </a:solidFill>
              </a:rPr>
              <a:t> Any opinions, findings, and conclusions or recommendations expressed in this material are those of the author(s) and do not necessarily reflect the views of the National Science Foundation.</a:t>
            </a:r>
          </a:p>
        </p:txBody>
      </p:sp>
      <p:sp>
        <p:nvSpPr>
          <p:cNvPr id="28" name="Google Shape;28;p1"/>
          <p:cNvSpPr txBox="1"/>
          <p:nvPr/>
        </p:nvSpPr>
        <p:spPr>
          <a:xfrm>
            <a:off x="33695277" y="29666689"/>
            <a:ext cx="10008352" cy="1629106"/>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marL="0" marR="0" lvl="0" indent="0" algn="ctr" rtl="0">
              <a:spcBef>
                <a:spcPts val="0"/>
              </a:spcBef>
              <a:spcAft>
                <a:spcPts val="0"/>
              </a:spcAft>
              <a:buNone/>
            </a:pPr>
            <a:r>
              <a:rPr lang="en-US" sz="2000" b="1" dirty="0">
                <a:solidFill>
                  <a:schemeClr val="tx1"/>
                </a:solidFill>
                <a:latin typeface="+mn-lt"/>
                <a:ea typeface="Arial Black"/>
                <a:cs typeface="Arial Black"/>
                <a:sym typeface="Arial Black"/>
              </a:rPr>
              <a:t>References</a:t>
            </a:r>
            <a:endParaRPr sz="2000" b="1" dirty="0">
              <a:solidFill>
                <a:schemeClr val="tx1"/>
              </a:solidFill>
              <a:latin typeface="+mn-lt"/>
            </a:endParaRPr>
          </a:p>
          <a:p>
            <a:pPr indent="-457200">
              <a:buClr>
                <a:schemeClr val="dk1"/>
              </a:buClr>
              <a:buSzPts val="2000"/>
              <a:buFont typeface="Arial" panose="020B0604020202020204" pitchFamily="34" charset="0"/>
              <a:buChar char="•"/>
            </a:pPr>
            <a:r>
              <a:rPr lang="en-US" sz="1200" dirty="0">
                <a:solidFill>
                  <a:schemeClr val="tx1"/>
                </a:solidFill>
                <a:latin typeface="+mn-lt"/>
                <a:ea typeface="Arial"/>
                <a:cs typeface="Arial"/>
                <a:sym typeface="Arial"/>
              </a:rPr>
              <a:t> </a:t>
            </a:r>
            <a:r>
              <a:rPr lang="en-US" sz="1200" dirty="0">
                <a:latin typeface="+mn-lt"/>
              </a:rPr>
              <a:t>Brown, R., Kulik, J., (1977). Flashbulb memories. Cognition, 5(1), 73-99.</a:t>
            </a:r>
          </a:p>
          <a:p>
            <a:pPr indent="-457200">
              <a:buClr>
                <a:schemeClr val="dk1"/>
              </a:buClr>
              <a:buSzPts val="2000"/>
              <a:buFont typeface="Arial" panose="020B0604020202020204" pitchFamily="34" charset="0"/>
              <a:buChar char="•"/>
            </a:pPr>
            <a:r>
              <a:rPr lang="en-US" sz="1200" dirty="0">
                <a:solidFill>
                  <a:schemeClr val="tx1"/>
                </a:solidFill>
                <a:latin typeface="+mn-lt"/>
                <a:ea typeface="Arial"/>
                <a:cs typeface="Arial"/>
                <a:sym typeface="Arial"/>
              </a:rPr>
              <a:t>Kensinger, E. A., (2009). Remembering the details: Effects of emotions. Emotion Review</a:t>
            </a:r>
            <a:r>
              <a:rPr lang="en-US" sz="1200" dirty="0">
                <a:solidFill>
                  <a:schemeClr val="tx1"/>
                </a:solidFill>
                <a:latin typeface="+mn-lt"/>
              </a:rPr>
              <a:t>,</a:t>
            </a:r>
            <a:r>
              <a:rPr lang="en-US" sz="1200" dirty="0">
                <a:solidFill>
                  <a:schemeClr val="tx1"/>
                </a:solidFill>
                <a:latin typeface="+mn-lt"/>
                <a:ea typeface="Arial"/>
                <a:cs typeface="Arial"/>
                <a:sym typeface="Arial"/>
              </a:rPr>
              <a:t> 1(2): 99-113.</a:t>
            </a:r>
          </a:p>
          <a:p>
            <a:pPr indent="-457200">
              <a:buClr>
                <a:schemeClr val="dk1"/>
              </a:buClr>
              <a:buSzPts val="2000"/>
              <a:buFont typeface="Arial" panose="020B0604020202020204" pitchFamily="34" charset="0"/>
              <a:buChar char="•"/>
            </a:pPr>
            <a:r>
              <a:rPr lang="en-US" sz="1200" dirty="0">
                <a:latin typeface="+mn-lt"/>
              </a:rPr>
              <a:t>Mather, M., Sutherland, M. R., (2011). Arousal-biased competition in perception and memory. Social Psychological and Personality Science, 6(2): 114-133. </a:t>
            </a:r>
          </a:p>
          <a:p>
            <a:pPr indent="-457200">
              <a:buClr>
                <a:schemeClr val="dk1"/>
              </a:buClr>
              <a:buSzPts val="2000"/>
              <a:buFont typeface="Arial" panose="020B0604020202020204" pitchFamily="34" charset="0"/>
              <a:buChar char="•"/>
            </a:pPr>
            <a:r>
              <a:rPr lang="en-US" sz="1200" dirty="0" err="1">
                <a:latin typeface="+mn-lt"/>
              </a:rPr>
              <a:t>Yonelinas</a:t>
            </a:r>
            <a:r>
              <a:rPr lang="en-US" sz="1200" dirty="0">
                <a:latin typeface="+mn-lt"/>
              </a:rPr>
              <a:t>, A. P., Ritchey, M., (2015). The slow forgetting of emotional episodic memories: An emotional binding account. Trends in Cognitive Sciences, 19(5): 259-267.</a:t>
            </a:r>
          </a:p>
          <a:p>
            <a:pPr indent="-457200">
              <a:buClr>
                <a:schemeClr val="dk1"/>
              </a:buClr>
              <a:buSzPts val="2000"/>
              <a:buFont typeface="Arial" panose="020B0604020202020204" pitchFamily="34" charset="0"/>
              <a:buChar char="•"/>
            </a:pPr>
            <a:endParaRPr lang="en-US" sz="2400" dirty="0"/>
          </a:p>
          <a:p>
            <a:pPr marR="0" lvl="0" algn="l" rtl="0">
              <a:spcBef>
                <a:spcPts val="0"/>
              </a:spcBef>
              <a:spcAft>
                <a:spcPts val="0"/>
              </a:spcAft>
              <a:buClr>
                <a:schemeClr val="dk1"/>
              </a:buClr>
              <a:buSzPts val="2000"/>
            </a:pPr>
            <a:endParaRPr lang="en-US" sz="2400" dirty="0">
              <a:solidFill>
                <a:schemeClr val="tx1"/>
              </a:solidFill>
              <a:latin typeface="+mn-lt"/>
            </a:endParaRPr>
          </a:p>
          <a:p>
            <a:pPr marR="0" lvl="0" algn="l" rtl="0">
              <a:spcBef>
                <a:spcPts val="0"/>
              </a:spcBef>
              <a:spcAft>
                <a:spcPts val="0"/>
              </a:spcAft>
              <a:buClr>
                <a:schemeClr val="dk1"/>
              </a:buClr>
              <a:buSzPts val="2000"/>
            </a:pPr>
            <a:endParaRPr lang="en-US" sz="2000" dirty="0">
              <a:solidFill>
                <a:schemeClr val="tx1"/>
              </a:solidFill>
              <a:latin typeface="Arial"/>
              <a:ea typeface="Arial"/>
              <a:cs typeface="Arial"/>
              <a:sym typeface="Arial"/>
            </a:endParaRPr>
          </a:p>
        </p:txBody>
      </p:sp>
      <p:sp>
        <p:nvSpPr>
          <p:cNvPr id="30" name="Google Shape;30;p1"/>
          <p:cNvSpPr txBox="1"/>
          <p:nvPr/>
        </p:nvSpPr>
        <p:spPr>
          <a:xfrm>
            <a:off x="670066" y="13632749"/>
            <a:ext cx="12535111" cy="8539566"/>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marL="0" marR="0" lvl="0" indent="0" algn="ctr" rtl="0">
              <a:spcBef>
                <a:spcPts val="0"/>
              </a:spcBef>
              <a:spcAft>
                <a:spcPts val="0"/>
              </a:spcAft>
              <a:buNone/>
            </a:pPr>
            <a:r>
              <a:rPr lang="en-US" sz="3600" dirty="0">
                <a:solidFill>
                  <a:schemeClr val="tx1"/>
                </a:solidFill>
                <a:latin typeface="Arial Black"/>
                <a:sym typeface="Arial Black"/>
              </a:rPr>
              <a:t>Background</a:t>
            </a:r>
            <a:endParaRPr sz="3600" dirty="0">
              <a:solidFill>
                <a:schemeClr val="tx1"/>
              </a:solidFill>
            </a:endParaRPr>
          </a:p>
          <a:p>
            <a:r>
              <a:rPr lang="en-US" sz="2600" dirty="0"/>
              <a:t>Convective field studies give students the opportunity to apply forecasting, nowcasting, and storm analysis skills under rapidly changing weather conditions. Students spend long days travelling while continuously checking surface maps, examining radar, and adjusting target locations. These scenarios inspire emotional responses like excitement, anxiety, and curiosity. Prior work shows that emotional events, whether positive or negative, are memorable because they focus attention on important aspects of the experience (Kensinger, 2009).</a:t>
            </a:r>
          </a:p>
          <a:p>
            <a:r>
              <a:rPr lang="en-US" sz="2600" dirty="0"/>
              <a:t>	Research shows that emotionally charged events are remembered differently than ordinary events. Arousal-biased competition theory states that when people are emotionally aroused, their attention and memory become biased towards the most meaningful or “high-priority” details of an event (Mather &amp; Sutherland, 2011). During a storm chase, these “high-priority" details may include storm structure, hazardous features, or damages, while “low-priority” details, such as routes taken, temperature, or time of day, fade. </a:t>
            </a:r>
          </a:p>
          <a:p>
            <a:r>
              <a:rPr lang="en-US" sz="2600" dirty="0"/>
              <a:t>		Highly emotional events can form long-lasting memories through emotional binding, where emotional reactions become tied to core details of events, causing these memories to persist over time (</a:t>
            </a:r>
            <a:r>
              <a:rPr lang="en-US" sz="2600" dirty="0" err="1"/>
              <a:t>Yonelinas</a:t>
            </a:r>
            <a:r>
              <a:rPr lang="en-US" sz="2600" dirty="0"/>
              <a:t> &amp; Ritchey, 2015). This bind is represented in “flashbulb memories,” when individuals remember dramatic events with great detail years later (Brown &amp; Kulik, 1977). </a:t>
            </a:r>
          </a:p>
        </p:txBody>
      </p:sp>
      <p:sp>
        <p:nvSpPr>
          <p:cNvPr id="31" name="Google Shape;31;p1"/>
          <p:cNvSpPr txBox="1"/>
          <p:nvPr/>
        </p:nvSpPr>
        <p:spPr>
          <a:xfrm>
            <a:off x="602322" y="22444631"/>
            <a:ext cx="12572981" cy="8802486"/>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marR="0" lvl="0" algn="ctr" rtl="0">
              <a:spcBef>
                <a:spcPts val="0"/>
              </a:spcBef>
              <a:spcAft>
                <a:spcPts val="0"/>
              </a:spcAft>
            </a:pPr>
            <a:r>
              <a:rPr lang="en-US" sz="3600" dirty="0">
                <a:solidFill>
                  <a:schemeClr val="tx1"/>
                </a:solidFill>
                <a:latin typeface="Arial Black"/>
                <a:ea typeface="Arial Black"/>
                <a:cs typeface="Arial Black"/>
                <a:sym typeface="Arial Black"/>
              </a:rPr>
              <a:t>Methods</a:t>
            </a:r>
            <a:endParaRPr lang="en-US" sz="2400" dirty="0">
              <a:solidFill>
                <a:schemeClr val="tx1"/>
              </a:solidFill>
            </a:endParaRPr>
          </a:p>
          <a:p>
            <a:r>
              <a:rPr lang="en-US" sz="2600" b="1" dirty="0"/>
              <a:t>Data collection: </a:t>
            </a:r>
            <a:r>
              <a:rPr lang="en-US" sz="2600" dirty="0"/>
              <a:t>During Valparaiso University’s May 2025 field course, 13 students and two instructors completed three surveys per day tracking their emotions, rest level, and curiosity using ecological momentary assessment (collecting emotional data in real time; Figure 1). Each survey included a geographical fact that participants would be tested on in the future. Participants also kept journals describing how each storm differed from the classic textbook case (Figure 2). Six months later, participants were given a 60-fact recognition test made of geographical facts from the May surveys and new geographical facts (Figure 3). They were asked to identify storm factors from a matrix based on their storm journals (Figure 4) and participated in semi-structured interviews recorded on Zoom where they were asked to recount their strongest memories from each chase day </a:t>
            </a:r>
            <a:r>
              <a:rPr lang="en-US" sz="2600" b="1" dirty="0"/>
              <a:t>Data analysis: </a:t>
            </a:r>
            <a:r>
              <a:rPr lang="en-US" sz="2600" dirty="0"/>
              <a:t>After cleaning and formatting the data, we ran binomial logistic regressions to validate our measures, examine whether storm chase days affected memory performance and subjective experience, and how storm chase days affected memory performance and subjective experience. All analyses predicting memory used correct recall (remembered vs. not remembered) as the outcome. We mean centered (by participant) all analyses using subjective experience measures (feeling, rested, curious); however, the pattern of results remained consistent when using raw values. </a:t>
            </a:r>
          </a:p>
        </p:txBody>
      </p:sp>
      <p:pic>
        <p:nvPicPr>
          <p:cNvPr id="4" name="Picture 3" descr="A black background with brown text&#10;&#10;Description automatically generated">
            <a:extLst>
              <a:ext uri="{FF2B5EF4-FFF2-40B4-BE49-F238E27FC236}">
                <a16:creationId xmlns:a16="http://schemas.microsoft.com/office/drawing/2014/main" id="{15A04712-BF8C-0565-2227-73191EC993ED}"/>
              </a:ext>
            </a:extLst>
          </p:cNvPr>
          <p:cNvPicPr>
            <a:picLocks noChangeAspect="1"/>
          </p:cNvPicPr>
          <p:nvPr/>
        </p:nvPicPr>
        <p:blipFill>
          <a:blip r:embed="rId5"/>
          <a:stretch>
            <a:fillRect/>
          </a:stretch>
        </p:blipFill>
        <p:spPr>
          <a:xfrm>
            <a:off x="36379909" y="699197"/>
            <a:ext cx="6629400" cy="2386129"/>
          </a:xfrm>
          <a:prstGeom prst="rect">
            <a:avLst/>
          </a:prstGeom>
        </p:spPr>
      </p:pic>
      <p:pic>
        <p:nvPicPr>
          <p:cNvPr id="8" name="Picture 7" descr="A black background with a black square&#10;&#10;Description automatically generated with medium confidence">
            <a:extLst>
              <a:ext uri="{FF2B5EF4-FFF2-40B4-BE49-F238E27FC236}">
                <a16:creationId xmlns:a16="http://schemas.microsoft.com/office/drawing/2014/main" id="{01E661EB-DA89-6466-FF98-91124DFDD5FE}"/>
              </a:ext>
            </a:extLst>
          </p:cNvPr>
          <p:cNvPicPr>
            <a:picLocks noChangeAspect="1"/>
          </p:cNvPicPr>
          <p:nvPr/>
        </p:nvPicPr>
        <p:blipFill>
          <a:blip r:embed="rId6"/>
          <a:stretch>
            <a:fillRect/>
          </a:stretch>
        </p:blipFill>
        <p:spPr>
          <a:xfrm>
            <a:off x="898773" y="1841541"/>
            <a:ext cx="6038850" cy="3419475"/>
          </a:xfrm>
          <a:prstGeom prst="rect">
            <a:avLst/>
          </a:prstGeom>
        </p:spPr>
      </p:pic>
      <p:pic>
        <p:nvPicPr>
          <p:cNvPr id="11" name="Picture 10" descr="A logo of a globe with a gold ring&#10;&#10;Description automatically generated">
            <a:extLst>
              <a:ext uri="{FF2B5EF4-FFF2-40B4-BE49-F238E27FC236}">
                <a16:creationId xmlns:a16="http://schemas.microsoft.com/office/drawing/2014/main" id="{38A99161-B2CB-5798-D8A8-F7A9E9DA700E}"/>
              </a:ext>
            </a:extLst>
          </p:cNvPr>
          <p:cNvPicPr>
            <a:picLocks noChangeAspect="1"/>
          </p:cNvPicPr>
          <p:nvPr/>
        </p:nvPicPr>
        <p:blipFill>
          <a:blip r:embed="rId7"/>
          <a:stretch>
            <a:fillRect/>
          </a:stretch>
        </p:blipFill>
        <p:spPr>
          <a:xfrm>
            <a:off x="38491140" y="2819339"/>
            <a:ext cx="2406938" cy="2386129"/>
          </a:xfrm>
          <a:prstGeom prst="rect">
            <a:avLst/>
          </a:prstGeom>
        </p:spPr>
      </p:pic>
      <p:sp>
        <p:nvSpPr>
          <p:cNvPr id="29" name="TextBox 28">
            <a:extLst>
              <a:ext uri="{FF2B5EF4-FFF2-40B4-BE49-F238E27FC236}">
                <a16:creationId xmlns:a16="http://schemas.microsoft.com/office/drawing/2014/main" id="{2AC7ACF4-089C-C09A-2F30-71CC40A47A05}"/>
              </a:ext>
            </a:extLst>
          </p:cNvPr>
          <p:cNvSpPr txBox="1"/>
          <p:nvPr/>
        </p:nvSpPr>
        <p:spPr>
          <a:xfrm>
            <a:off x="17788773" y="23840624"/>
            <a:ext cx="611298" cy="23840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2" name="TextBox 31">
            <a:extLst>
              <a:ext uri="{FF2B5EF4-FFF2-40B4-BE49-F238E27FC236}">
                <a16:creationId xmlns:a16="http://schemas.microsoft.com/office/drawing/2014/main" id="{D8F40B6D-1251-99E7-FC9C-072F6FCFE800}"/>
              </a:ext>
            </a:extLst>
          </p:cNvPr>
          <p:cNvSpPr txBox="1"/>
          <p:nvPr/>
        </p:nvSpPr>
        <p:spPr>
          <a:xfrm>
            <a:off x="18461201" y="25185479"/>
            <a:ext cx="2567451" cy="611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Google Shape;30;p1">
            <a:extLst>
              <a:ext uri="{FF2B5EF4-FFF2-40B4-BE49-F238E27FC236}">
                <a16:creationId xmlns:a16="http://schemas.microsoft.com/office/drawing/2014/main" id="{82445FBA-C3A0-9321-1DB7-1C3C543D083E}"/>
              </a:ext>
            </a:extLst>
          </p:cNvPr>
          <p:cNvSpPr txBox="1"/>
          <p:nvPr/>
        </p:nvSpPr>
        <p:spPr>
          <a:xfrm>
            <a:off x="651132" y="6403362"/>
            <a:ext cx="12572981" cy="6910311"/>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marL="0" marR="0" lvl="0" indent="0" algn="ctr" rtl="0">
              <a:spcBef>
                <a:spcPts val="0"/>
              </a:spcBef>
              <a:spcAft>
                <a:spcPts val="0"/>
              </a:spcAft>
              <a:buNone/>
            </a:pPr>
            <a:r>
              <a:rPr lang="en-US" sz="3600" dirty="0">
                <a:solidFill>
                  <a:schemeClr val="tx1"/>
                </a:solidFill>
                <a:latin typeface="Arial Black"/>
              </a:rPr>
              <a:t>Introduction and Research Questions</a:t>
            </a:r>
          </a:p>
          <a:p>
            <a:r>
              <a:rPr lang="en-US" sz="2600" dirty="0"/>
              <a:t>Convective field courses give meteorology students the chance to learn in real time while observing storm development. These experiences can be exciting, stressful, and exhausting, all of which are emotional states known to influence how individuals remember events. This project studies how students’ emotions during an 11-day storm-chasing field course impact their memory for both meteorological concepts and geographical information. Our overall purpose is to understand how convective field experiences work as effective opportunities for learning meteorology content. Do these experiences facilitate “teachable moments”?</a:t>
            </a:r>
          </a:p>
          <a:p>
            <a:r>
              <a:rPr lang="en-US" sz="2600" dirty="0"/>
              <a:t>Our research questions are: </a:t>
            </a:r>
          </a:p>
          <a:p>
            <a:pPr marL="342900" indent="-342900">
              <a:buFont typeface="+mj-lt"/>
              <a:buAutoNum type="arabicPeriod"/>
            </a:pPr>
            <a:r>
              <a:rPr lang="en-US" sz="2600" dirty="0"/>
              <a:t>How does recall of random facts presented on chase days compare with those presented on non-chase days?</a:t>
            </a:r>
          </a:p>
          <a:p>
            <a:pPr marL="342900" indent="-342900">
              <a:buFont typeface="+mj-lt"/>
              <a:buAutoNum type="arabicPeriod"/>
            </a:pPr>
            <a:r>
              <a:rPr lang="en-US" sz="2600" dirty="0"/>
              <a:t>How does emotion regulate recall of random facts six months later?</a:t>
            </a:r>
          </a:p>
          <a:p>
            <a:pPr marL="342900" indent="-342900">
              <a:buFont typeface="+mj-lt"/>
              <a:buAutoNum type="arabicPeriod"/>
            </a:pPr>
            <a:r>
              <a:rPr lang="en-US" sz="2600" dirty="0"/>
              <a:t>How does emotion regulate recall of meteorological content six months later?</a:t>
            </a:r>
          </a:p>
          <a:p>
            <a:r>
              <a:rPr lang="en-US" sz="2600" dirty="0"/>
              <a:t>Note: This work is in progress, and we are continuing to analyze data to address RQ#2. Stay tuned!</a:t>
            </a:r>
          </a:p>
        </p:txBody>
      </p:sp>
      <p:pic>
        <p:nvPicPr>
          <p:cNvPr id="5" name="Picture 4">
            <a:extLst>
              <a:ext uri="{FF2B5EF4-FFF2-40B4-BE49-F238E27FC236}">
                <a16:creationId xmlns:a16="http://schemas.microsoft.com/office/drawing/2014/main" id="{BE90AAEA-0FCD-4868-6C64-5CF5FC4C4B4F}"/>
              </a:ext>
            </a:extLst>
          </p:cNvPr>
          <p:cNvPicPr>
            <a:picLocks noChangeAspect="1"/>
          </p:cNvPicPr>
          <p:nvPr/>
        </p:nvPicPr>
        <p:blipFill>
          <a:blip r:embed="rId8"/>
          <a:stretch>
            <a:fillRect/>
          </a:stretch>
        </p:blipFill>
        <p:spPr>
          <a:xfrm>
            <a:off x="13291717" y="17004457"/>
            <a:ext cx="6590767" cy="5081754"/>
          </a:xfrm>
          <a:prstGeom prst="rect">
            <a:avLst/>
          </a:prstGeom>
        </p:spPr>
      </p:pic>
      <p:pic>
        <p:nvPicPr>
          <p:cNvPr id="7" name="Picture 6">
            <a:extLst>
              <a:ext uri="{FF2B5EF4-FFF2-40B4-BE49-F238E27FC236}">
                <a16:creationId xmlns:a16="http://schemas.microsoft.com/office/drawing/2014/main" id="{B0FF0822-3F08-2F53-1A8E-C9AF35B508B0}"/>
              </a:ext>
            </a:extLst>
          </p:cNvPr>
          <p:cNvPicPr>
            <a:picLocks noChangeAspect="1"/>
          </p:cNvPicPr>
          <p:nvPr/>
        </p:nvPicPr>
        <p:blipFill>
          <a:blip r:embed="rId9"/>
          <a:stretch>
            <a:fillRect/>
          </a:stretch>
        </p:blipFill>
        <p:spPr>
          <a:xfrm>
            <a:off x="13291718" y="22086211"/>
            <a:ext cx="6590768" cy="4384457"/>
          </a:xfrm>
          <a:prstGeom prst="rect">
            <a:avLst/>
          </a:prstGeom>
        </p:spPr>
      </p:pic>
      <p:pic>
        <p:nvPicPr>
          <p:cNvPr id="13" name="Picture 12">
            <a:extLst>
              <a:ext uri="{FF2B5EF4-FFF2-40B4-BE49-F238E27FC236}">
                <a16:creationId xmlns:a16="http://schemas.microsoft.com/office/drawing/2014/main" id="{5C8D580D-A49C-4BA3-D81B-F64DFCE67999}"/>
              </a:ext>
            </a:extLst>
          </p:cNvPr>
          <p:cNvPicPr>
            <a:picLocks noChangeAspect="1"/>
          </p:cNvPicPr>
          <p:nvPr/>
        </p:nvPicPr>
        <p:blipFill>
          <a:blip r:embed="rId10"/>
          <a:stretch>
            <a:fillRect/>
          </a:stretch>
        </p:blipFill>
        <p:spPr>
          <a:xfrm>
            <a:off x="20047688" y="26534676"/>
            <a:ext cx="6312060" cy="3909173"/>
          </a:xfrm>
          <a:prstGeom prst="rect">
            <a:avLst/>
          </a:prstGeom>
        </p:spPr>
      </p:pic>
      <p:pic>
        <p:nvPicPr>
          <p:cNvPr id="15" name="Picture 14">
            <a:extLst>
              <a:ext uri="{FF2B5EF4-FFF2-40B4-BE49-F238E27FC236}">
                <a16:creationId xmlns:a16="http://schemas.microsoft.com/office/drawing/2014/main" id="{E32C827C-C1A7-E39B-3FE2-4BD7CA5177FA}"/>
              </a:ext>
            </a:extLst>
          </p:cNvPr>
          <p:cNvPicPr>
            <a:picLocks noChangeAspect="1"/>
          </p:cNvPicPr>
          <p:nvPr/>
        </p:nvPicPr>
        <p:blipFill>
          <a:blip r:embed="rId11"/>
          <a:stretch>
            <a:fillRect/>
          </a:stretch>
        </p:blipFill>
        <p:spPr>
          <a:xfrm>
            <a:off x="26925894" y="22897448"/>
            <a:ext cx="6343780" cy="5635543"/>
          </a:xfrm>
          <a:prstGeom prst="rect">
            <a:avLst/>
          </a:prstGeom>
        </p:spPr>
      </p:pic>
      <p:pic>
        <p:nvPicPr>
          <p:cNvPr id="17" name="Picture 16">
            <a:extLst>
              <a:ext uri="{FF2B5EF4-FFF2-40B4-BE49-F238E27FC236}">
                <a16:creationId xmlns:a16="http://schemas.microsoft.com/office/drawing/2014/main" id="{42E002D1-A521-988F-0B98-FE70C8C45CA3}"/>
              </a:ext>
            </a:extLst>
          </p:cNvPr>
          <p:cNvPicPr>
            <a:picLocks noChangeAspect="1"/>
          </p:cNvPicPr>
          <p:nvPr/>
        </p:nvPicPr>
        <p:blipFill>
          <a:blip r:embed="rId12"/>
          <a:stretch>
            <a:fillRect/>
          </a:stretch>
        </p:blipFill>
        <p:spPr>
          <a:xfrm>
            <a:off x="26931858" y="28532992"/>
            <a:ext cx="6336557" cy="1629106"/>
          </a:xfrm>
          <a:prstGeom prst="rect">
            <a:avLst/>
          </a:prstGeom>
        </p:spPr>
      </p:pic>
      <p:pic>
        <p:nvPicPr>
          <p:cNvPr id="6" name="Picture 5">
            <a:extLst>
              <a:ext uri="{FF2B5EF4-FFF2-40B4-BE49-F238E27FC236}">
                <a16:creationId xmlns:a16="http://schemas.microsoft.com/office/drawing/2014/main" id="{91D477CE-3FA8-9E42-1617-7E2AF5DFA443}"/>
              </a:ext>
            </a:extLst>
          </p:cNvPr>
          <p:cNvPicPr>
            <a:picLocks noChangeAspect="1"/>
          </p:cNvPicPr>
          <p:nvPr/>
        </p:nvPicPr>
        <p:blipFill>
          <a:blip r:embed="rId13">
            <a:duotone>
              <a:prstClr val="black"/>
              <a:srgbClr val="D9C3A5">
                <a:tint val="50000"/>
                <a:satMod val="180000"/>
              </a:srgbClr>
            </a:duotone>
            <a:extLst>
              <a:ext uri="{BEBA8EAE-BF5A-486C-A8C5-ECC9F3942E4B}">
                <a14:imgProps xmlns:a14="http://schemas.microsoft.com/office/drawing/2010/main">
                  <a14:imgLayer r:embed="rId14">
                    <a14:imgEffect>
                      <a14:colorTemperature colorTemp="4700"/>
                    </a14:imgEffect>
                  </a14:imgLayer>
                </a14:imgProps>
              </a:ext>
            </a:extLst>
          </a:blip>
          <a:stretch>
            <a:fillRect/>
          </a:stretch>
        </p:blipFill>
        <p:spPr>
          <a:xfrm>
            <a:off x="13408367" y="27892868"/>
            <a:ext cx="6357470" cy="2732388"/>
          </a:xfrm>
          <a:prstGeom prst="rect">
            <a:avLst/>
          </a:prstGeom>
        </p:spPr>
      </p:pic>
      <p:sp>
        <p:nvSpPr>
          <p:cNvPr id="12" name="Google Shape;28;p1">
            <a:extLst>
              <a:ext uri="{FF2B5EF4-FFF2-40B4-BE49-F238E27FC236}">
                <a16:creationId xmlns:a16="http://schemas.microsoft.com/office/drawing/2014/main" id="{B558BA27-C873-D319-C360-34427D2F756C}"/>
              </a:ext>
            </a:extLst>
          </p:cNvPr>
          <p:cNvSpPr txBox="1"/>
          <p:nvPr/>
        </p:nvSpPr>
        <p:spPr>
          <a:xfrm>
            <a:off x="26910946" y="30314222"/>
            <a:ext cx="6357469" cy="991402"/>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a:buClr>
                <a:schemeClr val="dk1"/>
              </a:buClr>
              <a:buSzPts val="2000"/>
            </a:pPr>
            <a:r>
              <a:rPr lang="en-US" sz="2000" b="1" dirty="0"/>
              <a:t>Figure 4</a:t>
            </a:r>
            <a:r>
              <a:rPr lang="en-US" sz="2000" dirty="0"/>
              <a:t>. Matrix of storm factors used in the November 2025 follow-up survey</a:t>
            </a:r>
            <a:r>
              <a:rPr lang="en-US" sz="1600" dirty="0"/>
              <a:t>.</a:t>
            </a:r>
            <a:endParaRPr lang="en-US" sz="2400" dirty="0">
              <a:solidFill>
                <a:schemeClr val="tx1"/>
              </a:solidFill>
              <a:latin typeface="+mn-lt"/>
            </a:endParaRPr>
          </a:p>
          <a:p>
            <a:pPr marR="0" lvl="0" algn="l" rtl="0">
              <a:spcBef>
                <a:spcPts val="0"/>
              </a:spcBef>
              <a:spcAft>
                <a:spcPts val="0"/>
              </a:spcAft>
              <a:buClr>
                <a:schemeClr val="dk1"/>
              </a:buClr>
              <a:buSzPts val="2000"/>
            </a:pPr>
            <a:endParaRPr lang="en-US" sz="2000" dirty="0">
              <a:solidFill>
                <a:schemeClr val="tx1"/>
              </a:solidFill>
              <a:latin typeface="Arial"/>
              <a:ea typeface="Arial"/>
              <a:cs typeface="Arial"/>
              <a:sym typeface="Arial"/>
            </a:endParaRPr>
          </a:p>
        </p:txBody>
      </p:sp>
      <p:sp>
        <p:nvSpPr>
          <p:cNvPr id="14" name="Google Shape;28;p1">
            <a:extLst>
              <a:ext uri="{FF2B5EF4-FFF2-40B4-BE49-F238E27FC236}">
                <a16:creationId xmlns:a16="http://schemas.microsoft.com/office/drawing/2014/main" id="{C208EBA9-3E70-7795-4512-3D52EEABD85D}"/>
              </a:ext>
            </a:extLst>
          </p:cNvPr>
          <p:cNvSpPr txBox="1"/>
          <p:nvPr/>
        </p:nvSpPr>
        <p:spPr>
          <a:xfrm>
            <a:off x="19953594" y="30622723"/>
            <a:ext cx="6406154" cy="965712"/>
          </a:xfrm>
          <a:prstGeom prst="rect">
            <a:avLst/>
          </a:prstGeom>
          <a:solidFill>
            <a:srgbClr val="F2EFEA">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a:buClr>
                <a:schemeClr val="dk1"/>
              </a:buClr>
              <a:buSzPts val="2000"/>
            </a:pPr>
            <a:r>
              <a:rPr lang="en-US" sz="2000" b="1" dirty="0"/>
              <a:t>Figure 3. </a:t>
            </a:r>
            <a:r>
              <a:rPr lang="en-US" sz="2000" dirty="0"/>
              <a:t>Example task from the 60-fact recognition test November 2025.</a:t>
            </a:r>
            <a:endParaRPr lang="en-US" sz="2000" dirty="0">
              <a:solidFill>
                <a:schemeClr val="tx1"/>
              </a:solidFill>
              <a:latin typeface="Arial"/>
              <a:ea typeface="Arial"/>
              <a:cs typeface="Arial"/>
              <a:sym typeface="Arial"/>
            </a:endParaRPr>
          </a:p>
        </p:txBody>
      </p:sp>
      <p:sp>
        <p:nvSpPr>
          <p:cNvPr id="19" name="Google Shape;28;p1">
            <a:extLst>
              <a:ext uri="{FF2B5EF4-FFF2-40B4-BE49-F238E27FC236}">
                <a16:creationId xmlns:a16="http://schemas.microsoft.com/office/drawing/2014/main" id="{A2C5FD83-BDB2-28D4-BBE4-4E666F713E8E}"/>
              </a:ext>
            </a:extLst>
          </p:cNvPr>
          <p:cNvSpPr txBox="1"/>
          <p:nvPr/>
        </p:nvSpPr>
        <p:spPr>
          <a:xfrm>
            <a:off x="13270807" y="26583271"/>
            <a:ext cx="6590768" cy="991402"/>
          </a:xfrm>
          <a:prstGeom prst="rect">
            <a:avLst/>
          </a:prstGeom>
          <a:solidFill>
            <a:srgbClr val="F2EFEA"/>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a:buClr>
                <a:schemeClr val="dk1"/>
              </a:buClr>
              <a:buSzPts val="2000"/>
            </a:pPr>
            <a:r>
              <a:rPr lang="en-US" sz="2000" b="1" dirty="0">
                <a:latin typeface="+mn-lt"/>
              </a:rPr>
              <a:t>Figure 1. </a:t>
            </a:r>
            <a:r>
              <a:rPr lang="en-US" sz="2000" dirty="0">
                <a:latin typeface="+mn-lt"/>
              </a:rPr>
              <a:t>Example survey administered to participants in May 2025</a:t>
            </a:r>
            <a:r>
              <a:rPr lang="en-US" sz="1600" dirty="0">
                <a:latin typeface="+mn-lt"/>
              </a:rPr>
              <a:t>.</a:t>
            </a:r>
            <a:endParaRPr lang="en-US" sz="2400" dirty="0">
              <a:solidFill>
                <a:schemeClr val="tx1"/>
              </a:solidFill>
              <a:latin typeface="+mn-lt"/>
            </a:endParaRPr>
          </a:p>
          <a:p>
            <a:pPr marR="0" lvl="0" algn="l" rtl="0">
              <a:spcBef>
                <a:spcPts val="0"/>
              </a:spcBef>
              <a:spcAft>
                <a:spcPts val="0"/>
              </a:spcAft>
              <a:buClr>
                <a:schemeClr val="dk1"/>
              </a:buClr>
              <a:buSzPts val="2000"/>
            </a:pPr>
            <a:endParaRPr lang="en-US" sz="2000" dirty="0">
              <a:solidFill>
                <a:schemeClr val="tx1"/>
              </a:solidFill>
              <a:latin typeface="Arial"/>
              <a:ea typeface="Arial"/>
              <a:cs typeface="Arial"/>
              <a:sym typeface="Arial"/>
            </a:endParaRPr>
          </a:p>
        </p:txBody>
      </p:sp>
      <p:sp>
        <p:nvSpPr>
          <p:cNvPr id="20" name="Google Shape;28;p1">
            <a:extLst>
              <a:ext uri="{FF2B5EF4-FFF2-40B4-BE49-F238E27FC236}">
                <a16:creationId xmlns:a16="http://schemas.microsoft.com/office/drawing/2014/main" id="{D50597C9-1869-B4FC-46B9-6C209F70479D}"/>
              </a:ext>
            </a:extLst>
          </p:cNvPr>
          <p:cNvSpPr txBox="1"/>
          <p:nvPr/>
        </p:nvSpPr>
        <p:spPr>
          <a:xfrm>
            <a:off x="13387456" y="30777657"/>
            <a:ext cx="6357470" cy="794667"/>
          </a:xfrm>
          <a:prstGeom prst="rect">
            <a:avLst/>
          </a:prstGeom>
          <a:solidFill>
            <a:srgbClr val="FFFFFF">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a:buClr>
                <a:schemeClr val="dk1"/>
              </a:buClr>
              <a:buSzPts val="2000"/>
            </a:pPr>
            <a:r>
              <a:rPr lang="en-US" sz="2000" b="1" dirty="0"/>
              <a:t>Figure 2. </a:t>
            </a:r>
            <a:r>
              <a:rPr lang="en-US" sz="2000" dirty="0"/>
              <a:t>Example journal entry, May 2025. </a:t>
            </a:r>
            <a:endParaRPr lang="en-US" sz="2000" dirty="0">
              <a:solidFill>
                <a:schemeClr val="tx1"/>
              </a:solidFill>
              <a:latin typeface="+mn-lt"/>
            </a:endParaRPr>
          </a:p>
          <a:p>
            <a:pPr marR="0" lvl="0" algn="l" rtl="0">
              <a:spcBef>
                <a:spcPts val="0"/>
              </a:spcBef>
              <a:spcAft>
                <a:spcPts val="0"/>
              </a:spcAft>
              <a:buClr>
                <a:schemeClr val="dk1"/>
              </a:buClr>
              <a:buSzPts val="2000"/>
            </a:pPr>
            <a:endParaRPr lang="en-US" sz="2000" dirty="0">
              <a:solidFill>
                <a:schemeClr val="tx1"/>
              </a:solidFill>
              <a:latin typeface="Arial"/>
              <a:ea typeface="Arial"/>
              <a:cs typeface="Arial"/>
              <a:sym typeface="Arial"/>
            </a:endParaRPr>
          </a:p>
        </p:txBody>
      </p:sp>
      <p:sp>
        <p:nvSpPr>
          <p:cNvPr id="10" name="TextBox 9">
            <a:extLst>
              <a:ext uri="{FF2B5EF4-FFF2-40B4-BE49-F238E27FC236}">
                <a16:creationId xmlns:a16="http://schemas.microsoft.com/office/drawing/2014/main" id="{458E9014-8EC3-66D2-E80F-0919C8DF9833}"/>
              </a:ext>
            </a:extLst>
          </p:cNvPr>
          <p:cNvSpPr txBox="1"/>
          <p:nvPr/>
        </p:nvSpPr>
        <p:spPr>
          <a:xfrm>
            <a:off x="21028652" y="6624210"/>
            <a:ext cx="9862457" cy="923330"/>
          </a:xfrm>
          <a:prstGeom prst="rect">
            <a:avLst/>
          </a:prstGeom>
          <a:noFill/>
        </p:spPr>
        <p:txBody>
          <a:bodyPr wrap="square" rtlCol="0">
            <a:spAutoFit/>
          </a:bodyPr>
          <a:lstStyle/>
          <a:p>
            <a:r>
              <a:rPr kumimoji="0" lang="en-US" sz="5400" b="0" i="0" u="none" strike="noStrike" kern="0" cap="none" spc="0" normalizeH="0" baseline="0" noProof="0" dirty="0">
                <a:ln>
                  <a:noFill/>
                </a:ln>
                <a:solidFill>
                  <a:srgbClr val="000000"/>
                </a:solidFill>
                <a:effectLst/>
                <a:uLnTx/>
                <a:uFillTx/>
                <a:latin typeface="Arial Black"/>
                <a:cs typeface="Arial"/>
                <a:sym typeface="Arial Black"/>
              </a:rPr>
              <a:t>Results</a:t>
            </a:r>
            <a:endParaRPr lang="en-US" sz="5400" dirty="0"/>
          </a:p>
        </p:txBody>
      </p:sp>
      <p:graphicFrame>
        <p:nvGraphicFramePr>
          <p:cNvPr id="16" name="Table 15">
            <a:extLst>
              <a:ext uri="{FF2B5EF4-FFF2-40B4-BE49-F238E27FC236}">
                <a16:creationId xmlns:a16="http://schemas.microsoft.com/office/drawing/2014/main" id="{E5AB2F20-F2E4-6ADE-A91C-2C0EA4FCCFDE}"/>
              </a:ext>
            </a:extLst>
          </p:cNvPr>
          <p:cNvGraphicFramePr>
            <a:graphicFrameLocks noGrp="1"/>
          </p:cNvGraphicFramePr>
          <p:nvPr>
            <p:extLst>
              <p:ext uri="{D42A27DB-BD31-4B8C-83A1-F6EECF244321}">
                <p14:modId xmlns:p14="http://schemas.microsoft.com/office/powerpoint/2010/main" val="267219109"/>
              </p:ext>
            </p:extLst>
          </p:nvPr>
        </p:nvGraphicFramePr>
        <p:xfrm>
          <a:off x="26440156" y="9625954"/>
          <a:ext cx="7074822" cy="7254240"/>
        </p:xfrm>
        <a:graphic>
          <a:graphicData uri="http://schemas.openxmlformats.org/drawingml/2006/table">
            <a:tbl>
              <a:tblPr firstRow="1" firstCol="1" bandRow="1">
                <a:tableStyleId>{5C22544A-7EE6-4342-B048-85BDC9FD1C3A}</a:tableStyleId>
              </a:tblPr>
              <a:tblGrid>
                <a:gridCol w="2527301">
                  <a:extLst>
                    <a:ext uri="{9D8B030D-6E8A-4147-A177-3AD203B41FA5}">
                      <a16:colId xmlns:a16="http://schemas.microsoft.com/office/drawing/2014/main" val="2487731150"/>
                    </a:ext>
                  </a:extLst>
                </a:gridCol>
                <a:gridCol w="2261936">
                  <a:extLst>
                    <a:ext uri="{9D8B030D-6E8A-4147-A177-3AD203B41FA5}">
                      <a16:colId xmlns:a16="http://schemas.microsoft.com/office/drawing/2014/main" val="2039135413"/>
                    </a:ext>
                  </a:extLst>
                </a:gridCol>
                <a:gridCol w="1026695">
                  <a:extLst>
                    <a:ext uri="{9D8B030D-6E8A-4147-A177-3AD203B41FA5}">
                      <a16:colId xmlns:a16="http://schemas.microsoft.com/office/drawing/2014/main" val="487661185"/>
                    </a:ext>
                  </a:extLst>
                </a:gridCol>
                <a:gridCol w="1258890">
                  <a:extLst>
                    <a:ext uri="{9D8B030D-6E8A-4147-A177-3AD203B41FA5}">
                      <a16:colId xmlns:a16="http://schemas.microsoft.com/office/drawing/2014/main" val="2634668282"/>
                    </a:ext>
                  </a:extLst>
                </a:gridCol>
              </a:tblGrid>
              <a:tr h="308545">
                <a:tc>
                  <a:txBody>
                    <a:bodyPr/>
                    <a:lstStyle/>
                    <a:p>
                      <a:pPr marL="0" marR="0">
                        <a:buNone/>
                      </a:pPr>
                      <a:r>
                        <a:rPr lang="en-US" sz="2600" dirty="0">
                          <a:solidFill>
                            <a:schemeClr val="tx1"/>
                          </a:solidFill>
                          <a:effectLst/>
                        </a:rPr>
                        <a:t>Analysis</a:t>
                      </a:r>
                      <a:endParaRPr lang="en-US" sz="2600" dirty="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Predictor</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i="1" dirty="0">
                          <a:solidFill>
                            <a:schemeClr val="tx1"/>
                          </a:solidFill>
                          <a:effectLst/>
                        </a:rPr>
                        <a:t>z</a:t>
                      </a:r>
                      <a:endParaRPr lang="en-US" sz="2600" i="1" dirty="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i="1" dirty="0">
                          <a:solidFill>
                            <a:schemeClr val="tx1"/>
                          </a:solidFill>
                          <a:effectLst/>
                        </a:rPr>
                        <a:t>p</a:t>
                      </a:r>
                      <a:endParaRPr lang="en-US" sz="2600" i="1" dirty="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1681821"/>
                  </a:ext>
                </a:extLst>
              </a:tr>
              <a:tr h="308545">
                <a:tc>
                  <a:txBody>
                    <a:bodyPr/>
                    <a:lstStyle/>
                    <a:p>
                      <a:pPr marL="0" marR="0">
                        <a:buNone/>
                      </a:pPr>
                      <a:r>
                        <a:rPr lang="en-US" sz="2600">
                          <a:solidFill>
                            <a:schemeClr val="tx1"/>
                          </a:solidFill>
                          <a:effectLst/>
                        </a:rPr>
                        <a:t>Validation Checks</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dirty="0">
                          <a:solidFill>
                            <a:schemeClr val="tx1"/>
                          </a:solidFill>
                          <a:effectLst/>
                        </a:rPr>
                        <a:t> </a:t>
                      </a:r>
                      <a:endParaRPr lang="en-US" sz="2600" dirty="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8201776"/>
                  </a:ext>
                </a:extLst>
              </a:tr>
              <a:tr h="557755">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Confidence ratings</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6.11</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&lt; .001*</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8951730"/>
                  </a:ext>
                </a:extLst>
              </a:tr>
              <a:tr h="557755">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Prior knowledge</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4.11</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dirty="0">
                          <a:solidFill>
                            <a:schemeClr val="tx1"/>
                          </a:solidFill>
                          <a:effectLst/>
                        </a:rPr>
                        <a:t>&lt; .001*</a:t>
                      </a:r>
                      <a:endParaRPr lang="en-US" sz="2600" dirty="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3803829"/>
                  </a:ext>
                </a:extLst>
              </a:tr>
              <a:tr h="557755">
                <a:tc>
                  <a:txBody>
                    <a:bodyPr/>
                    <a:lstStyle/>
                    <a:p>
                      <a:pPr marL="0" marR="0">
                        <a:buNone/>
                      </a:pPr>
                      <a:r>
                        <a:rPr lang="en-US" sz="2600">
                          <a:solidFill>
                            <a:schemeClr val="tx1"/>
                          </a:solidFill>
                          <a:effectLst/>
                        </a:rPr>
                        <a:t>Storm Chase Day Effects</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0608470"/>
                  </a:ext>
                </a:extLst>
              </a:tr>
              <a:tr h="806965">
                <a:tc>
                  <a:txBody>
                    <a:bodyPr/>
                    <a:lstStyle/>
                    <a:p>
                      <a:pPr marL="0" marR="0">
                        <a:buNone/>
                      </a:pPr>
                      <a:r>
                        <a:rPr lang="en-US" sz="2600">
                          <a:solidFill>
                            <a:schemeClr val="tx1"/>
                          </a:solidFill>
                          <a:effectLst/>
                        </a:rPr>
                        <a:t>Memory performance</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Storm day (vs. non-storm)</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-1.91</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.057†</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7577142"/>
                  </a:ext>
                </a:extLst>
              </a:tr>
              <a:tr h="557755">
                <a:tc>
                  <a:txBody>
                    <a:bodyPr/>
                    <a:lstStyle/>
                    <a:p>
                      <a:pPr marL="0" marR="0">
                        <a:buNone/>
                      </a:pPr>
                      <a:r>
                        <a:rPr lang="en-US" sz="2600">
                          <a:solidFill>
                            <a:schemeClr val="tx1"/>
                          </a:solidFill>
                          <a:effectLst/>
                        </a:rPr>
                        <a:t>Subjective experience</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Feeling (unhappy)</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-2.60</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.010*</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8154149"/>
                  </a:ext>
                </a:extLst>
              </a:tr>
              <a:tr h="308545">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Curious</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3.96</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&lt; .001*</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0131060"/>
                  </a:ext>
                </a:extLst>
              </a:tr>
              <a:tr h="308545">
                <a:tc>
                  <a:txBody>
                    <a:bodyPr/>
                    <a:lstStyle/>
                    <a:p>
                      <a:pPr marL="0" marR="0">
                        <a:buNone/>
                      </a:pPr>
                      <a:r>
                        <a:rPr lang="en-US" sz="2600">
                          <a:solidFill>
                            <a:schemeClr val="tx1"/>
                          </a:solidFill>
                          <a:effectLst/>
                        </a:rPr>
                        <a:t> </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Rested</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a:solidFill>
                            <a:schemeClr val="tx1"/>
                          </a:solidFill>
                          <a:effectLst/>
                        </a:rPr>
                        <a:t>-1.22</a:t>
                      </a:r>
                      <a:endParaRPr lang="en-US" sz="260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buNone/>
                      </a:pPr>
                      <a:r>
                        <a:rPr lang="en-US" sz="2600" dirty="0">
                          <a:solidFill>
                            <a:schemeClr val="tx1"/>
                          </a:solidFill>
                          <a:effectLst/>
                        </a:rPr>
                        <a:t>.225</a:t>
                      </a:r>
                      <a:endParaRPr lang="en-US" sz="2600" dirty="0">
                        <a:solidFill>
                          <a:schemeClr val="tx1"/>
                        </a:solidFill>
                        <a:effectLst/>
                        <a:latin typeface="Arial" panose="020B0604020202020204" pitchFamily="34" charset="0"/>
                        <a:ea typeface="Arial" panose="020B0604020202020204" pitchFamily="34" charset="0"/>
                      </a:endParaRPr>
                    </a:p>
                  </a:txBody>
                  <a:tcPr marL="76200" marR="762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7838171"/>
                  </a:ext>
                </a:extLst>
              </a:tr>
            </a:tbl>
          </a:graphicData>
        </a:graphic>
      </p:graphicFrame>
      <p:sp>
        <p:nvSpPr>
          <p:cNvPr id="24" name="Google Shape;28;p1">
            <a:extLst>
              <a:ext uri="{FF2B5EF4-FFF2-40B4-BE49-F238E27FC236}">
                <a16:creationId xmlns:a16="http://schemas.microsoft.com/office/drawing/2014/main" id="{D6DB499A-4AFE-24B6-B33A-AEFE0991D49F}"/>
              </a:ext>
            </a:extLst>
          </p:cNvPr>
          <p:cNvSpPr txBox="1"/>
          <p:nvPr/>
        </p:nvSpPr>
        <p:spPr>
          <a:xfrm>
            <a:off x="26322240" y="8298054"/>
            <a:ext cx="7074822" cy="923330"/>
          </a:xfrm>
          <a:prstGeom prst="rect">
            <a:avLst/>
          </a:prstGeom>
          <a:solidFill>
            <a:srgbClr val="F2EFEA"/>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a:buClr>
                <a:schemeClr val="dk1"/>
              </a:buClr>
              <a:buSzPts val="2000"/>
            </a:pPr>
            <a:r>
              <a:rPr lang="en-US" sz="2000" b="1" dirty="0">
                <a:latin typeface="+mn-lt"/>
              </a:rPr>
              <a:t>Table 1. </a:t>
            </a:r>
            <a:r>
              <a:rPr lang="en-US" sz="2000" dirty="0">
                <a:latin typeface="+mn-lt"/>
              </a:rPr>
              <a:t>Binomial Logistic Regression Results Predicting Memory for Random Facts * p &lt; .05. † p &lt; .10.</a:t>
            </a:r>
          </a:p>
          <a:p>
            <a:pPr marR="0" lvl="0" algn="l" rtl="0">
              <a:spcBef>
                <a:spcPts val="0"/>
              </a:spcBef>
              <a:spcAft>
                <a:spcPts val="0"/>
              </a:spcAft>
              <a:buClr>
                <a:schemeClr val="dk1"/>
              </a:buClr>
              <a:buSzPts val="2000"/>
            </a:pPr>
            <a:endParaRPr lang="en-US" sz="2000" dirty="0">
              <a:solidFill>
                <a:schemeClr val="tx1"/>
              </a:solidFill>
              <a:latin typeface="Arial"/>
              <a:ea typeface="Arial"/>
              <a:cs typeface="Arial"/>
              <a:sym typeface="Arial"/>
            </a:endParaRPr>
          </a:p>
        </p:txBody>
      </p:sp>
      <p:sp>
        <p:nvSpPr>
          <p:cNvPr id="34" name="Google Shape;28;p1">
            <a:extLst>
              <a:ext uri="{FF2B5EF4-FFF2-40B4-BE49-F238E27FC236}">
                <a16:creationId xmlns:a16="http://schemas.microsoft.com/office/drawing/2014/main" id="{9A3C2401-31DB-8F96-01B5-6987538CA090}"/>
              </a:ext>
            </a:extLst>
          </p:cNvPr>
          <p:cNvSpPr txBox="1"/>
          <p:nvPr/>
        </p:nvSpPr>
        <p:spPr>
          <a:xfrm>
            <a:off x="13538703" y="15914482"/>
            <a:ext cx="12567927" cy="965712"/>
          </a:xfrm>
          <a:prstGeom prst="rect">
            <a:avLst/>
          </a:prstGeom>
          <a:solidFill>
            <a:srgbClr val="F2EFEA">
              <a:alpha val="74901"/>
            </a:srgbClr>
          </a:solidFill>
          <a:ln w="9525" cap="flat" cmpd="sng">
            <a:solidFill>
              <a:srgbClr val="999999"/>
            </a:solidFill>
            <a:prstDash val="solid"/>
            <a:miter lim="800000"/>
            <a:headEnd type="none" w="sm" len="sm"/>
            <a:tailEnd type="none" w="sm" len="sm"/>
          </a:ln>
        </p:spPr>
        <p:txBody>
          <a:bodyPr spcFirstLastPara="1" wrap="square" lIns="228600" tIns="228600" rIns="228600" bIns="36575" anchor="t" anchorCtr="0">
            <a:noAutofit/>
          </a:bodyPr>
          <a:lstStyle/>
          <a:p>
            <a:pPr>
              <a:buClr>
                <a:schemeClr val="dk1"/>
              </a:buClr>
              <a:buSzPts val="2000"/>
            </a:pPr>
            <a:r>
              <a:rPr lang="en-US" sz="2000" b="1" dirty="0"/>
              <a:t>Figure 5. </a:t>
            </a:r>
            <a:r>
              <a:rPr lang="en-US" sz="2000" dirty="0"/>
              <a:t>Recall of random facts.</a:t>
            </a:r>
            <a:endParaRPr lang="en-US" sz="2000" dirty="0">
              <a:solidFill>
                <a:schemeClr val="tx1"/>
              </a:solidFill>
              <a:latin typeface="Arial"/>
              <a:ea typeface="Arial"/>
              <a:cs typeface="Arial"/>
              <a:sym typeface="Arial"/>
            </a:endParaRPr>
          </a:p>
        </p:txBody>
      </p:sp>
      <p:grpSp>
        <p:nvGrpSpPr>
          <p:cNvPr id="36" name="Group 35">
            <a:extLst>
              <a:ext uri="{FF2B5EF4-FFF2-40B4-BE49-F238E27FC236}">
                <a16:creationId xmlns:a16="http://schemas.microsoft.com/office/drawing/2014/main" id="{A01F874A-5DF3-A3AA-97F6-579972BA76C9}"/>
              </a:ext>
            </a:extLst>
          </p:cNvPr>
          <p:cNvGrpSpPr/>
          <p:nvPr/>
        </p:nvGrpSpPr>
        <p:grpSpPr>
          <a:xfrm>
            <a:off x="13574012" y="8024190"/>
            <a:ext cx="12567928" cy="7756207"/>
            <a:chOff x="13574012" y="8024190"/>
            <a:chExt cx="12567928" cy="7756207"/>
          </a:xfrm>
        </p:grpSpPr>
        <p:pic>
          <p:nvPicPr>
            <p:cNvPr id="33" name="Picture 32" descr="A graph showing a number of random facts&#10;&#10;AI-generated content may be incorrect.">
              <a:extLst>
                <a:ext uri="{FF2B5EF4-FFF2-40B4-BE49-F238E27FC236}">
                  <a16:creationId xmlns:a16="http://schemas.microsoft.com/office/drawing/2014/main" id="{9E08BA09-4A10-082E-AC61-0BA7B2B4C448}"/>
                </a:ext>
              </a:extLst>
            </p:cNvPr>
            <p:cNvPicPr>
              <a:picLocks noChangeAspect="1"/>
            </p:cNvPicPr>
            <p:nvPr/>
          </p:nvPicPr>
          <p:blipFill>
            <a:blip r:embed="rId15"/>
            <a:stretch>
              <a:fillRect/>
            </a:stretch>
          </p:blipFill>
          <p:spPr>
            <a:xfrm>
              <a:off x="13574012" y="8024190"/>
              <a:ext cx="12567928" cy="7756207"/>
            </a:xfrm>
            <a:prstGeom prst="rect">
              <a:avLst/>
            </a:prstGeom>
          </p:spPr>
        </p:pic>
        <p:sp>
          <p:nvSpPr>
            <p:cNvPr id="35" name="TextBox 34">
              <a:extLst>
                <a:ext uri="{FF2B5EF4-FFF2-40B4-BE49-F238E27FC236}">
                  <a16:creationId xmlns:a16="http://schemas.microsoft.com/office/drawing/2014/main" id="{849F3D37-B56F-3174-7649-7B2FD4DDABFF}"/>
                </a:ext>
              </a:extLst>
            </p:cNvPr>
            <p:cNvSpPr txBox="1"/>
            <p:nvPr/>
          </p:nvSpPr>
          <p:spPr>
            <a:xfrm>
              <a:off x="14434457" y="8068035"/>
              <a:ext cx="5310469" cy="802051"/>
            </a:xfrm>
            <a:prstGeom prst="rect">
              <a:avLst/>
            </a:prstGeom>
            <a:solidFill>
              <a:schemeClr val="bg1"/>
            </a:solidFill>
          </p:spPr>
          <p:txBody>
            <a:bodyPr wrap="square" rtlCol="0">
              <a:spAutoFit/>
            </a:bodyPr>
            <a:lstStyle/>
            <a:p>
              <a:endParaRPr lang="en-US" dirty="0"/>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336</TotalTime>
  <Words>1440</Words>
  <Application>Microsoft Macintosh PowerPoint</Application>
  <PresentationFormat>Custom</PresentationFormat>
  <Paragraphs>80</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 Narrow</vt:lpstr>
      <vt:lpstr>Tahoma</vt:lpstr>
      <vt:lpstr>Times New Roman</vt:lpstr>
      <vt:lpstr>Arial Black</vt: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 Cave</dc:creator>
  <cp:lastModifiedBy>McNeal, Peggy M.</cp:lastModifiedBy>
  <cp:revision>43</cp:revision>
  <dcterms:created xsi:type="dcterms:W3CDTF">2008-02-25T15:29:47Z</dcterms:created>
  <dcterms:modified xsi:type="dcterms:W3CDTF">2026-01-30T16:28:53Z</dcterms:modified>
</cp:coreProperties>
</file>